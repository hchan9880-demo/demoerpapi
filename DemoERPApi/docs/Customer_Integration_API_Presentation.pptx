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y="6858000" cx="9144000"/>
  <p:notesSz cx="6858000" cy="9144000"/>
  <p:embeddedFontLst>
    <p:embeddedFont>
      <p:font typeface="Raleway"/>
      <p:regular r:id="rId58"/>
      <p:bold r:id="rId59"/>
      <p:italic r:id="rId60"/>
      <p:boldItalic r:id="rId61"/>
    </p:embeddedFont>
    <p:embeddedFont>
      <p:font typeface="Lato"/>
      <p:regular r:id="rId62"/>
      <p:bold r:id="rId63"/>
      <p:italic r:id="rId64"/>
      <p:boldItalic r:id="rId65"/>
    </p:embeddedFont>
    <p:embeddedFont>
      <p:font typeface="Roboto Mono"/>
      <p:regular r:id="rId66"/>
      <p:bold r:id="rId67"/>
      <p:italic r:id="rId68"/>
      <p:boldItalic r:id="rId6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0" roundtripDataSignature="AMtx7mi8wktaZiSNP+Vkywbp37YVcuyR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0" Type="http://customschemas.google.com/relationships/presentationmetadata" Target="meta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Lato-regular.fntdata"/><Relationship Id="rId61" Type="http://schemas.openxmlformats.org/officeDocument/2006/relationships/font" Target="fonts/Raleway-boldItalic.fntdata"/><Relationship Id="rId20" Type="http://schemas.openxmlformats.org/officeDocument/2006/relationships/slide" Target="slides/slide15.xml"/><Relationship Id="rId64" Type="http://schemas.openxmlformats.org/officeDocument/2006/relationships/font" Target="fonts/Lato-italic.fntdata"/><Relationship Id="rId63" Type="http://schemas.openxmlformats.org/officeDocument/2006/relationships/font" Target="fonts/Lato-bold.fntdata"/><Relationship Id="rId22" Type="http://schemas.openxmlformats.org/officeDocument/2006/relationships/slide" Target="slides/slide17.xml"/><Relationship Id="rId66" Type="http://schemas.openxmlformats.org/officeDocument/2006/relationships/font" Target="fonts/RobotoMono-regular.fntdata"/><Relationship Id="rId21" Type="http://schemas.openxmlformats.org/officeDocument/2006/relationships/slide" Target="slides/slide16.xml"/><Relationship Id="rId65" Type="http://schemas.openxmlformats.org/officeDocument/2006/relationships/font" Target="fonts/Lato-boldItalic.fntdata"/><Relationship Id="rId24" Type="http://schemas.openxmlformats.org/officeDocument/2006/relationships/slide" Target="slides/slide19.xml"/><Relationship Id="rId68" Type="http://schemas.openxmlformats.org/officeDocument/2006/relationships/font" Target="fonts/RobotoMono-italic.fntdata"/><Relationship Id="rId23" Type="http://schemas.openxmlformats.org/officeDocument/2006/relationships/slide" Target="slides/slide18.xml"/><Relationship Id="rId67" Type="http://schemas.openxmlformats.org/officeDocument/2006/relationships/font" Target="fonts/RobotoMono-bold.fntdata"/><Relationship Id="rId60" Type="http://schemas.openxmlformats.org/officeDocument/2006/relationships/font" Target="fonts/Raleway-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Mono-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font" Target="fonts/Raleway-bold.fntdata"/><Relationship Id="rId14" Type="http://schemas.openxmlformats.org/officeDocument/2006/relationships/slide" Target="slides/slide9.xml"/><Relationship Id="rId58" Type="http://schemas.openxmlformats.org/officeDocument/2006/relationships/font" Target="fonts/Raleway-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20ccbc9fc_3_15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g3f20ccbc9fc_3_15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24086cf93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24086cf9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20ccbc9fc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20ccbc9f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20ccbc9fc_3_7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f20ccbc9fc_3_7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20ccbc9fc_3_16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f20ccbc9fc_3_1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f20ccbc9fc_3_16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f20ccbc9fc_3_16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20ccbc9fc_3_15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20ccbc9fc_3_1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20ccbc9fc_3_16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f20ccbc9fc_3_1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20ccbc9fc_3_16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f20ccbc9fc_3_1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20ccbc9fc_3_16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f20ccbc9fc_3_1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20ccbc9fc_3_16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f20ccbc9fc_3_1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20ccbc9fc_3_16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f20ccbc9fc_3_1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f20ccbc9fc_3_16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f20ccbc9fc_3_1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20ccbc9fc_3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f20ccbc9fc_3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f20ccbc9fc_3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f20ccbc9fc_3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f20ccbc9fc_3_15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f20ccbc9fc_3_1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f20ccbc9fc_3_15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f20ccbc9fc_3_1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f20ccbc9fc_3_15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f20ccbc9fc_3_1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f20ccbc9fc_3_15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f20ccbc9fc_3_1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f20ccbc9fc_3_15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f20ccbc9fc_3_1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f20ccbc9fc_3_15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f20ccbc9fc_3_1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20ccbc9fc_3_15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f20ccbc9fc_3_1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20ccbc9fc_3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f20ccbc9fc_3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f20ccbc9fc_3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f20ccbc9fc_3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f20ccbc9fc_3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f20ccbc9fc_3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f20ccbc9fc_3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f20ccbc9fc_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f20ccbc9fc_3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f20ccbc9fc_3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f24086cf9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f24086cf9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f20ccbc9fc_3_16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f20ccbc9fc_3_1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f20ccbc9fc_3_16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f20ccbc9fc_3_1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22c5e4d3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f22c5e4d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f22c5e4d31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f22c5e4d31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f22c5e4d31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f22c5e4d3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f22c5e4d31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f22c5e4d3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f22c5e4d31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f22c5e4d3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f22c5e4d31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f22c5e4d31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f22c5e4d31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f22c5e4d3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f24086cf93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f24086cf9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f24086cf93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f24086cf9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g3f20ccbc9fc_3_1460"/>
          <p:cNvSpPr/>
          <p:nvPr/>
        </p:nvSpPr>
        <p:spPr>
          <a:xfrm>
            <a:off x="0" y="0"/>
            <a:ext cx="9144000" cy="65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g3f20ccbc9fc_3_1460"/>
          <p:cNvGrpSpPr/>
          <p:nvPr/>
        </p:nvGrpSpPr>
        <p:grpSpPr>
          <a:xfrm>
            <a:off x="830392" y="1588427"/>
            <a:ext cx="745763" cy="61102"/>
            <a:chOff x="4580561" y="2589004"/>
            <a:chExt cx="1064464" cy="25200"/>
          </a:xfrm>
        </p:grpSpPr>
        <p:sp>
          <p:nvSpPr>
            <p:cNvPr id="12" name="Google Shape;12;g3f20ccbc9fc_3_146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g3f20ccbc9fc_3_146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g3f20ccbc9fc_3_1460"/>
          <p:cNvSpPr txBox="1"/>
          <p:nvPr>
            <p:ph type="ctrTitle"/>
          </p:nvPr>
        </p:nvSpPr>
        <p:spPr>
          <a:xfrm>
            <a:off x="729450" y="1763267"/>
            <a:ext cx="7688100" cy="2219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g3f20ccbc9fc_3_1460"/>
          <p:cNvSpPr txBox="1"/>
          <p:nvPr>
            <p:ph idx="1" type="subTitle"/>
          </p:nvPr>
        </p:nvSpPr>
        <p:spPr>
          <a:xfrm>
            <a:off x="729627" y="4230533"/>
            <a:ext cx="7688100" cy="721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g3f20ccbc9fc_3_1460"/>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g3f20ccbc9fc_3_1468"/>
          <p:cNvGrpSpPr/>
          <p:nvPr/>
        </p:nvGrpSpPr>
        <p:grpSpPr>
          <a:xfrm>
            <a:off x="830392" y="1588427"/>
            <a:ext cx="745763" cy="61102"/>
            <a:chOff x="4580561" y="2589004"/>
            <a:chExt cx="1064464" cy="25200"/>
          </a:xfrm>
        </p:grpSpPr>
        <p:sp>
          <p:nvSpPr>
            <p:cNvPr id="19" name="Google Shape;19;g3f20ccbc9fc_3_146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g3f20ccbc9fc_3_146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g3f20ccbc9fc_3_1468"/>
          <p:cNvSpPr txBox="1"/>
          <p:nvPr>
            <p:ph type="title"/>
          </p:nvPr>
        </p:nvSpPr>
        <p:spPr>
          <a:xfrm>
            <a:off x="729450" y="1763267"/>
            <a:ext cx="7688400" cy="202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g3f20ccbc9fc_3_1468"/>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g3f20ccbc9fc_3_1474"/>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g3f20ccbc9fc_3_1474"/>
          <p:cNvGrpSpPr/>
          <p:nvPr/>
        </p:nvGrpSpPr>
        <p:grpSpPr>
          <a:xfrm>
            <a:off x="830392" y="1588427"/>
            <a:ext cx="745763" cy="61102"/>
            <a:chOff x="4580561" y="2589004"/>
            <a:chExt cx="1064464" cy="25200"/>
          </a:xfrm>
        </p:grpSpPr>
        <p:sp>
          <p:nvSpPr>
            <p:cNvPr id="26" name="Google Shape;26;g3f20ccbc9fc_3_147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g3f20ccbc9fc_3_147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g3f20ccbc9fc_3_1474"/>
          <p:cNvSpPr txBox="1"/>
          <p:nvPr>
            <p:ph type="title"/>
          </p:nvPr>
        </p:nvSpPr>
        <p:spPr>
          <a:xfrm>
            <a:off x="729450" y="1758200"/>
            <a:ext cx="76887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g3f20ccbc9fc_3_1474"/>
          <p:cNvSpPr txBox="1"/>
          <p:nvPr>
            <p:ph idx="1" type="body"/>
          </p:nvPr>
        </p:nvSpPr>
        <p:spPr>
          <a:xfrm>
            <a:off x="729450" y="2771833"/>
            <a:ext cx="76887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g3f20ccbc9fc_3_1474"/>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g3f20ccbc9fc_3_1482"/>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g3f20ccbc9fc_3_1482"/>
          <p:cNvGrpSpPr/>
          <p:nvPr/>
        </p:nvGrpSpPr>
        <p:grpSpPr>
          <a:xfrm>
            <a:off x="830392" y="1588427"/>
            <a:ext cx="745763" cy="61102"/>
            <a:chOff x="4580561" y="2589004"/>
            <a:chExt cx="1064464" cy="25200"/>
          </a:xfrm>
        </p:grpSpPr>
        <p:sp>
          <p:nvSpPr>
            <p:cNvPr id="34" name="Google Shape;34;g3f20ccbc9fc_3_148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g3f20ccbc9fc_3_148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g3f20ccbc9fc_3_1482"/>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g3f20ccbc9fc_3_1482"/>
          <p:cNvSpPr txBox="1"/>
          <p:nvPr>
            <p:ph idx="1" type="body"/>
          </p:nvPr>
        </p:nvSpPr>
        <p:spPr>
          <a:xfrm>
            <a:off x="729325"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g3f20ccbc9fc_3_1482"/>
          <p:cNvSpPr txBox="1"/>
          <p:nvPr>
            <p:ph idx="2" type="body"/>
          </p:nvPr>
        </p:nvSpPr>
        <p:spPr>
          <a:xfrm>
            <a:off x="4643604"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g3f20ccbc9fc_3_148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g3f20ccbc9fc_3_1491"/>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g3f20ccbc9fc_3_1491"/>
          <p:cNvGrpSpPr/>
          <p:nvPr/>
        </p:nvGrpSpPr>
        <p:grpSpPr>
          <a:xfrm>
            <a:off x="830392" y="1588427"/>
            <a:ext cx="745763" cy="61102"/>
            <a:chOff x="4580561" y="2589004"/>
            <a:chExt cx="1064464" cy="25200"/>
          </a:xfrm>
        </p:grpSpPr>
        <p:sp>
          <p:nvSpPr>
            <p:cNvPr id="43" name="Google Shape;43;g3f20ccbc9fc_3_149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g3f20ccbc9fc_3_149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g3f20ccbc9fc_3_1491"/>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g3f20ccbc9fc_3_1491"/>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g3f20ccbc9fc_3_1498"/>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g3f20ccbc9fc_3_1498"/>
          <p:cNvGrpSpPr/>
          <p:nvPr/>
        </p:nvGrpSpPr>
        <p:grpSpPr>
          <a:xfrm>
            <a:off x="830392" y="1588427"/>
            <a:ext cx="745763" cy="61102"/>
            <a:chOff x="4580561" y="2589004"/>
            <a:chExt cx="1064464" cy="25200"/>
          </a:xfrm>
        </p:grpSpPr>
        <p:sp>
          <p:nvSpPr>
            <p:cNvPr id="50" name="Google Shape;50;g3f20ccbc9fc_3_149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g3f20ccbc9fc_3_149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g3f20ccbc9fc_3_1498"/>
          <p:cNvSpPr txBox="1"/>
          <p:nvPr>
            <p:ph type="title"/>
          </p:nvPr>
        </p:nvSpPr>
        <p:spPr>
          <a:xfrm>
            <a:off x="730000" y="1758200"/>
            <a:ext cx="3300900" cy="18420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g3f20ccbc9fc_3_1498"/>
          <p:cNvSpPr txBox="1"/>
          <p:nvPr>
            <p:ph idx="1" type="body"/>
          </p:nvPr>
        </p:nvSpPr>
        <p:spPr>
          <a:xfrm>
            <a:off x="721225" y="3708967"/>
            <a:ext cx="3300900" cy="2130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g3f20ccbc9fc_3_1498"/>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g3f20ccbc9fc_3_1506"/>
          <p:cNvGrpSpPr/>
          <p:nvPr/>
        </p:nvGrpSpPr>
        <p:grpSpPr>
          <a:xfrm>
            <a:off x="830392" y="5558926"/>
            <a:ext cx="745763" cy="61102"/>
            <a:chOff x="4580561" y="2589004"/>
            <a:chExt cx="1064464" cy="25200"/>
          </a:xfrm>
        </p:grpSpPr>
        <p:sp>
          <p:nvSpPr>
            <p:cNvPr id="57" name="Google Shape;57;g3f20ccbc9fc_3_1506"/>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g3f20ccbc9fc_3_1506"/>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g3f20ccbc9fc_3_1506"/>
          <p:cNvSpPr txBox="1"/>
          <p:nvPr>
            <p:ph type="title"/>
          </p:nvPr>
        </p:nvSpPr>
        <p:spPr>
          <a:xfrm>
            <a:off x="729450" y="1152400"/>
            <a:ext cx="7021200" cy="39801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g3f20ccbc9fc_3_1506"/>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g3f20ccbc9fc_3_1512"/>
          <p:cNvSpPr/>
          <p:nvPr/>
        </p:nvSpPr>
        <p:spPr>
          <a:xfrm>
            <a:off x="0" y="0"/>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g3f20ccbc9fc_3_1512"/>
          <p:cNvGrpSpPr/>
          <p:nvPr/>
        </p:nvGrpSpPr>
        <p:grpSpPr>
          <a:xfrm>
            <a:off x="830392" y="1588427"/>
            <a:ext cx="745763" cy="61102"/>
            <a:chOff x="4580561" y="2589004"/>
            <a:chExt cx="1064464" cy="25200"/>
          </a:xfrm>
        </p:grpSpPr>
        <p:sp>
          <p:nvSpPr>
            <p:cNvPr id="64" name="Google Shape;64;g3f20ccbc9fc_3_151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g3f20ccbc9fc_3_151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g3f20ccbc9fc_3_1512"/>
          <p:cNvSpPr txBox="1"/>
          <p:nvPr>
            <p:ph type="title"/>
          </p:nvPr>
        </p:nvSpPr>
        <p:spPr>
          <a:xfrm>
            <a:off x="730000" y="1758200"/>
            <a:ext cx="3300900" cy="2249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g3f20ccbc9fc_3_1512"/>
          <p:cNvSpPr txBox="1"/>
          <p:nvPr>
            <p:ph idx="1" type="subTitle"/>
          </p:nvPr>
        </p:nvSpPr>
        <p:spPr>
          <a:xfrm>
            <a:off x="724950" y="4215367"/>
            <a:ext cx="3300900" cy="1011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g3f20ccbc9fc_3_1512"/>
          <p:cNvSpPr txBox="1"/>
          <p:nvPr>
            <p:ph idx="2" type="body"/>
          </p:nvPr>
        </p:nvSpPr>
        <p:spPr>
          <a:xfrm>
            <a:off x="5174225" y="1803500"/>
            <a:ext cx="3374400" cy="4034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g3f20ccbc9fc_3_151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g3f20ccbc9fc_3_1521"/>
          <p:cNvSpPr txBox="1"/>
          <p:nvPr>
            <p:ph idx="1" type="body"/>
          </p:nvPr>
        </p:nvSpPr>
        <p:spPr>
          <a:xfrm>
            <a:off x="724950" y="5830068"/>
            <a:ext cx="7697400" cy="614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g3f20ccbc9fc_3_1521"/>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g3f20ccbc9fc_3_1524"/>
          <p:cNvGrpSpPr/>
          <p:nvPr/>
        </p:nvGrpSpPr>
        <p:grpSpPr>
          <a:xfrm>
            <a:off x="830392" y="5558926"/>
            <a:ext cx="745763" cy="61102"/>
            <a:chOff x="4580561" y="2589004"/>
            <a:chExt cx="1064464" cy="25200"/>
          </a:xfrm>
        </p:grpSpPr>
        <p:sp>
          <p:nvSpPr>
            <p:cNvPr id="75" name="Google Shape;75;g3f20ccbc9fc_3_1524"/>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g3f20ccbc9fc_3_1524"/>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g3f20ccbc9fc_3_1524"/>
          <p:cNvSpPr txBox="1"/>
          <p:nvPr>
            <p:ph hasCustomPrompt="1" type="title"/>
          </p:nvPr>
        </p:nvSpPr>
        <p:spPr>
          <a:xfrm>
            <a:off x="729450" y="978600"/>
            <a:ext cx="7688400" cy="165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g3f20ccbc9fc_3_1524"/>
          <p:cNvSpPr txBox="1"/>
          <p:nvPr>
            <p:ph idx="1" type="body"/>
          </p:nvPr>
        </p:nvSpPr>
        <p:spPr>
          <a:xfrm>
            <a:off x="729450" y="3030517"/>
            <a:ext cx="7688400" cy="2107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g3f20ccbc9fc_3_1524"/>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g3f20ccbc9fc_3_1531"/>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2" name="Shape 82"/>
        <p:cNvGrpSpPr/>
        <p:nvPr/>
      </p:nvGrpSpPr>
      <p:grpSpPr>
        <a:xfrm>
          <a:off x="0" y="0"/>
          <a:ext cx="0" cy="0"/>
          <a:chOff x="0" y="0"/>
          <a:chExt cx="0" cy="0"/>
        </a:xfrm>
      </p:grpSpPr>
      <p:sp>
        <p:nvSpPr>
          <p:cNvPr id="83" name="Google Shape;83;g3f20ccbc9fc_3_15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4" name="Google Shape;84;g3f20ccbc9fc_3_153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85" name="Google Shape;85;g3f20ccbc9fc_3_153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g3f20ccbc9fc_3_153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g3f20ccbc9fc_3_153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g3f20ccbc9fc_3_145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g3f20ccbc9fc_3_1456"/>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g3f20ccbc9fc_3_1456"/>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hyperlink" Target="http://program.cs" TargetMode="External"/><Relationship Id="rId4" Type="http://schemas.openxmlformats.org/officeDocument/2006/relationships/hyperlink" Target="http://program.c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hyperlink" Target="http://program.c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hyperlink" Target="http://program.c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hyperlink" Target="http://customerscontroller.c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hyperlink" Target="https://localhost:7087/swagger/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1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16.png"/><Relationship Id="rId4" Type="http://schemas.openxmlformats.org/officeDocument/2006/relationships/image" Target="../media/image1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14.png"/><Relationship Id="rId4" Type="http://schemas.openxmlformats.org/officeDocument/2006/relationships/image" Target="../media/image1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1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Customer Integration API System</a:t>
            </a:r>
            <a:endParaRPr/>
          </a:p>
        </p:txBody>
      </p:sp>
      <p:sp>
        <p:nvSpPr>
          <p:cNvPr id="93" name="Google Shape;93;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29718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ASP.NET Core + SQL Server Integration Project</a:t>
            </a:r>
            <a:endParaRPr/>
          </a:p>
          <a:p>
            <a:pPr indent="0" lvl="0" marL="342900" rtl="0" algn="l">
              <a:spcBef>
                <a:spcPts val="640"/>
              </a:spcBef>
              <a:spcAft>
                <a:spcPts val="0"/>
              </a:spcAft>
              <a:buNone/>
            </a:pPr>
            <a:r>
              <a:t/>
            </a:r>
            <a:endParaRPr sz="3200">
              <a:solidFill>
                <a:schemeClr val="dk1"/>
              </a:solidFill>
              <a:latin typeface="Calibri"/>
              <a:ea typeface="Calibri"/>
              <a:cs typeface="Calibri"/>
              <a:sym typeface="Calibri"/>
            </a:endParaRPr>
          </a:p>
          <a:p>
            <a:pPr indent="0" lvl="0" marL="0" rtl="0" algn="l">
              <a:spcBef>
                <a:spcPts val="1200"/>
              </a:spcBef>
              <a:spcAft>
                <a:spcPts val="0"/>
              </a:spcAft>
              <a:buNone/>
            </a:pPr>
            <a:r>
              <a:rPr b="1" lang="en-US" sz="2850">
                <a:latin typeface="Arial"/>
                <a:ea typeface="Arial"/>
                <a:cs typeface="Arial"/>
                <a:sym typeface="Arial"/>
              </a:rPr>
              <a:t>Name:</a:t>
            </a:r>
            <a:r>
              <a:rPr lang="en-US" sz="2850">
                <a:latin typeface="Arial"/>
                <a:ea typeface="Arial"/>
                <a:cs typeface="Arial"/>
                <a:sym typeface="Arial"/>
              </a:rPr>
              <a:t> Henry Chan</a:t>
            </a:r>
            <a:endParaRPr sz="2850">
              <a:latin typeface="Arial"/>
              <a:ea typeface="Arial"/>
              <a:cs typeface="Arial"/>
              <a:sym typeface="Arial"/>
            </a:endParaRPr>
          </a:p>
          <a:p>
            <a:pPr indent="0" lvl="0" marL="0" rtl="0" algn="l">
              <a:spcBef>
                <a:spcPts val="1200"/>
              </a:spcBef>
              <a:spcAft>
                <a:spcPts val="0"/>
              </a:spcAft>
              <a:buNone/>
            </a:pPr>
            <a:r>
              <a:rPr b="1" lang="en-US" sz="2850">
                <a:latin typeface="Arial"/>
                <a:ea typeface="Arial"/>
                <a:cs typeface="Arial"/>
                <a:sym typeface="Arial"/>
              </a:rPr>
              <a:t>Focus:</a:t>
            </a:r>
            <a:r>
              <a:rPr lang="en-US" sz="2850">
                <a:latin typeface="Arial"/>
                <a:ea typeface="Arial"/>
                <a:cs typeface="Arial"/>
                <a:sym typeface="Arial"/>
              </a:rPr>
              <a:t> Systems Analysis / API Integration / SQL Server </a:t>
            </a:r>
            <a:endParaRPr sz="2850">
              <a:latin typeface="Arial"/>
              <a:ea typeface="Arial"/>
              <a:cs typeface="Arial"/>
              <a:sym typeface="Arial"/>
            </a:endParaRPr>
          </a:p>
          <a:p>
            <a:pPr indent="0" lvl="0" marL="0" rtl="0" algn="ctr">
              <a:spcBef>
                <a:spcPts val="1200"/>
              </a:spcBef>
              <a:spcAft>
                <a:spcPts val="0"/>
              </a:spcAft>
              <a:buNone/>
            </a:pPr>
            <a:r>
              <a:t/>
            </a:r>
            <a:endParaRPr sz="2850">
              <a:latin typeface="Arial"/>
              <a:ea typeface="Arial"/>
              <a:cs typeface="Arial"/>
              <a:sym typeface="Arial"/>
            </a:endParaRPr>
          </a:p>
          <a:p>
            <a:pPr indent="0" lvl="0" marL="0" rtl="0" algn="ctr">
              <a:spcBef>
                <a:spcPts val="1200"/>
              </a:spcBef>
              <a:spcAft>
                <a:spcPts val="0"/>
              </a:spcAft>
              <a:buNone/>
            </a:pPr>
            <a:r>
              <a:t/>
            </a:r>
            <a:endParaRPr sz="2850">
              <a:latin typeface="Arial"/>
              <a:ea typeface="Arial"/>
              <a:cs typeface="Arial"/>
              <a:sym typeface="Arial"/>
            </a:endParaRPr>
          </a:p>
          <a:p>
            <a:pPr indent="0" lvl="0" marL="0" rtl="0" algn="l">
              <a:spcBef>
                <a:spcPts val="1200"/>
              </a:spcBef>
              <a:spcAft>
                <a:spcPts val="0"/>
              </a:spcAft>
              <a:buNone/>
            </a:pPr>
            <a:r>
              <a:rPr lang="en-US" sz="2850">
                <a:latin typeface="Arial"/>
                <a:ea typeface="Arial"/>
                <a:cs typeface="Arial"/>
                <a:sym typeface="Arial"/>
              </a:rPr>
              <a:t>POST /login → authenticate user → issue JWT → client stores token →</a:t>
            </a:r>
            <a:endParaRPr sz="2850">
              <a:latin typeface="Arial"/>
              <a:ea typeface="Arial"/>
              <a:cs typeface="Arial"/>
              <a:sym typeface="Arial"/>
            </a:endParaRPr>
          </a:p>
          <a:p>
            <a:pPr indent="0" lvl="0" marL="0" rtl="0" algn="l">
              <a:spcBef>
                <a:spcPts val="1200"/>
              </a:spcBef>
              <a:spcAft>
                <a:spcPts val="1200"/>
              </a:spcAft>
              <a:buNone/>
            </a:pPr>
            <a:r>
              <a:rPr lang="en-US" sz="2850">
                <a:latin typeface="Arial"/>
                <a:ea typeface="Arial"/>
                <a:cs typeface="Arial"/>
                <a:sym typeface="Arial"/>
              </a:rPr>
              <a:t>GET /api/customer (Bearer token) → validate JWT → execute controller </a:t>
            </a:r>
            <a:endParaRPr sz="285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f20ccbc9fc_3_15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Technologies Used</a:t>
            </a:r>
            <a:endParaRPr/>
          </a:p>
        </p:txBody>
      </p:sp>
      <p:sp>
        <p:nvSpPr>
          <p:cNvPr id="99" name="Google Shape;99;g3f20ccbc9fc_3_153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lnSpcReduction="10000"/>
          </a:bodyPr>
          <a:lstStyle/>
          <a:p>
            <a:pPr indent="-317500" lvl="0" marL="457200" rtl="0" algn="l">
              <a:lnSpc>
                <a:spcPct val="115000"/>
              </a:lnSpc>
              <a:spcBef>
                <a:spcPts val="1200"/>
              </a:spcBef>
              <a:spcAft>
                <a:spcPts val="0"/>
              </a:spcAft>
              <a:buClr>
                <a:srgbClr val="000000"/>
              </a:buClr>
              <a:buSzPts val="1400"/>
              <a:buFont typeface="Arial"/>
              <a:buAutoNum type="arabicPeriod"/>
            </a:pPr>
            <a:r>
              <a:rPr lang="en-US" sz="1400">
                <a:solidFill>
                  <a:srgbClr val="000000"/>
                </a:solidFill>
                <a:latin typeface="Arial"/>
                <a:ea typeface="Arial"/>
                <a:cs typeface="Arial"/>
                <a:sym typeface="Arial"/>
              </a:rPr>
              <a:t>C# (.NET 8)</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US" sz="1400">
                <a:solidFill>
                  <a:srgbClr val="000000"/>
                </a:solidFill>
                <a:latin typeface="Arial"/>
                <a:ea typeface="Arial"/>
                <a:cs typeface="Arial"/>
                <a:sym typeface="Arial"/>
              </a:rPr>
              <a:t>ASP.NET Core Web API</a:t>
            </a:r>
            <a:endParaRPr sz="1400">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US" sz="1400">
                <a:solidFill>
                  <a:srgbClr val="000000"/>
                </a:solidFill>
                <a:latin typeface="Arial"/>
                <a:ea typeface="Arial"/>
                <a:cs typeface="Arial"/>
                <a:sym typeface="Arial"/>
              </a:rPr>
              <a:t>SQL Server</a:t>
            </a:r>
            <a:endParaRPr sz="1400">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US" sz="1400">
                <a:solidFill>
                  <a:srgbClr val="000000"/>
                </a:solidFill>
                <a:latin typeface="Arial"/>
                <a:ea typeface="Arial"/>
                <a:cs typeface="Arial"/>
                <a:sym typeface="Arial"/>
              </a:rPr>
              <a:t>T-SQL Stored Procedures</a:t>
            </a:r>
            <a:endParaRPr sz="1400">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US" sz="1400">
                <a:solidFill>
                  <a:srgbClr val="000000"/>
                </a:solidFill>
                <a:latin typeface="Arial"/>
                <a:ea typeface="Arial"/>
                <a:cs typeface="Arial"/>
                <a:sym typeface="Arial"/>
              </a:rPr>
              <a:t>Swagger / OpenAPI</a:t>
            </a:r>
            <a:endParaRPr sz="1400">
              <a:latin typeface="Arial"/>
              <a:ea typeface="Arial"/>
              <a:cs typeface="Arial"/>
              <a:sym typeface="Arial"/>
            </a:endParaRPr>
          </a:p>
          <a:p>
            <a:pPr indent="-317500" lvl="0" marL="457200" rtl="0" algn="l">
              <a:spcBef>
                <a:spcPts val="0"/>
              </a:spcBef>
              <a:spcAft>
                <a:spcPts val="0"/>
              </a:spcAft>
              <a:buClr>
                <a:srgbClr val="000000"/>
              </a:buClr>
              <a:buSzPts val="1400"/>
              <a:buFont typeface="Arial"/>
              <a:buAutoNum type="arabicPeriod"/>
            </a:pPr>
            <a:r>
              <a:rPr lang="en-US" sz="1400">
                <a:solidFill>
                  <a:srgbClr val="000000"/>
                </a:solidFill>
                <a:latin typeface="Arial"/>
                <a:ea typeface="Arial"/>
                <a:cs typeface="Arial"/>
                <a:sym typeface="Arial"/>
              </a:rPr>
              <a:t>Visual Studio</a:t>
            </a:r>
            <a:endParaRPr sz="1400">
              <a:solidFill>
                <a:srgbClr val="000000"/>
              </a:solidFill>
              <a:latin typeface="Arial"/>
              <a:ea typeface="Arial"/>
              <a:cs typeface="Arial"/>
              <a:sym typeface="Arial"/>
            </a:endParaRPr>
          </a:p>
          <a:p>
            <a:pPr indent="0" lvl="0" marL="457200" rtl="0" algn="l">
              <a:spcBef>
                <a:spcPts val="1200"/>
              </a:spcBef>
              <a:spcAft>
                <a:spcPts val="0"/>
              </a:spcAft>
              <a:buNone/>
            </a:pPr>
            <a:r>
              <a:t/>
            </a:r>
            <a:endParaRPr sz="1400">
              <a:solidFill>
                <a:srgbClr val="000000"/>
              </a:solidFill>
              <a:latin typeface="Arial"/>
              <a:ea typeface="Arial"/>
              <a:cs typeface="Arial"/>
              <a:sym typeface="Arial"/>
            </a:endParaRPr>
          </a:p>
          <a:p>
            <a:pPr indent="0" lvl="0" marL="0" rtl="0" algn="l">
              <a:spcBef>
                <a:spcPts val="1200"/>
              </a:spcBef>
              <a:spcAft>
                <a:spcPts val="0"/>
              </a:spcAft>
              <a:buNone/>
            </a:pPr>
            <a:r>
              <a:rPr lang="en-US" sz="1400">
                <a:solidFill>
                  <a:srgbClr val="000000"/>
                </a:solidFill>
                <a:latin typeface="Arial"/>
                <a:ea typeface="Arial"/>
                <a:cs typeface="Arial"/>
                <a:sym typeface="Arial"/>
              </a:rPr>
              <a:t>Key Features </a:t>
            </a:r>
            <a:endParaRPr sz="1400">
              <a:solidFill>
                <a:srgbClr val="000000"/>
              </a:solidFill>
              <a:latin typeface="Arial"/>
              <a:ea typeface="Arial"/>
              <a:cs typeface="Arial"/>
              <a:sym typeface="Arial"/>
            </a:endParaRPr>
          </a:p>
          <a:p>
            <a:pPr indent="-317500" lvl="0" marL="457200" rtl="0" algn="l">
              <a:spcBef>
                <a:spcPts val="1200"/>
              </a:spcBef>
              <a:spcAft>
                <a:spcPts val="0"/>
              </a:spcAft>
              <a:buClr>
                <a:srgbClr val="000000"/>
              </a:buClr>
              <a:buSzPts val="1400"/>
              <a:buFont typeface="Arial"/>
              <a:buChar char="●"/>
            </a:pPr>
            <a:r>
              <a:rPr lang="en-US" sz="1400">
                <a:solidFill>
                  <a:srgbClr val="000000"/>
                </a:solidFill>
                <a:latin typeface="Arial"/>
                <a:ea typeface="Arial"/>
                <a:cs typeface="Arial"/>
                <a:sym typeface="Arial"/>
              </a:rPr>
              <a:t>CRUD Operations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Validation</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Stored Procedures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Soft Delete</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JWT Security</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Swagger</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US" sz="1400">
                <a:solidFill>
                  <a:srgbClr val="000000"/>
                </a:solidFill>
                <a:latin typeface="Arial"/>
                <a:ea typeface="Arial"/>
                <a:cs typeface="Arial"/>
                <a:sym typeface="Arial"/>
              </a:rPr>
              <a:t>Integration Tests </a:t>
            </a:r>
            <a:endParaRPr sz="1400">
              <a:solidFill>
                <a:srgbClr val="000000"/>
              </a:solidFill>
              <a:latin typeface="Arial"/>
              <a:ea typeface="Arial"/>
              <a:cs typeface="Arial"/>
              <a:sym typeface="Arial"/>
            </a:endParaRPr>
          </a:p>
          <a:p>
            <a:pPr indent="0" lvl="0" marL="0" rtl="0" algn="l">
              <a:spcBef>
                <a:spcPts val="1200"/>
              </a:spcBef>
              <a:spcAft>
                <a:spcPts val="1200"/>
              </a:spcAft>
              <a:buNone/>
            </a:pPr>
            <a:r>
              <a:t/>
            </a:r>
            <a:endParaRPr sz="140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f24086cf93_0_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Current </a:t>
            </a:r>
            <a:r>
              <a:rPr lang="en-US"/>
              <a:t>Architecture </a:t>
            </a:r>
            <a:endParaRPr/>
          </a:p>
        </p:txBody>
      </p:sp>
      <p:sp>
        <p:nvSpPr>
          <p:cNvPr id="105" name="Google Shape;105;g3f24086cf93_0_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ctr">
              <a:spcBef>
                <a:spcPts val="360"/>
              </a:spcBef>
              <a:spcAft>
                <a:spcPts val="0"/>
              </a:spcAft>
              <a:buNone/>
            </a:pPr>
            <a:r>
              <a:rPr lang="en-US"/>
              <a:t>Client</a:t>
            </a:r>
            <a:endParaRPr/>
          </a:p>
          <a:p>
            <a:pPr indent="0" lvl="0" marL="0" rtl="0" algn="ctr">
              <a:spcBef>
                <a:spcPts val="1200"/>
              </a:spcBef>
              <a:spcAft>
                <a:spcPts val="0"/>
              </a:spcAft>
              <a:buNone/>
            </a:pPr>
            <a:r>
              <a:rPr lang="en-US"/>
              <a:t>↓</a:t>
            </a:r>
            <a:endParaRPr/>
          </a:p>
          <a:p>
            <a:pPr indent="0" lvl="0" marL="0" rtl="0" algn="ctr">
              <a:spcBef>
                <a:spcPts val="1200"/>
              </a:spcBef>
              <a:spcAft>
                <a:spcPts val="0"/>
              </a:spcAft>
              <a:buNone/>
            </a:pPr>
            <a:r>
              <a:rPr lang="en-US"/>
              <a:t>JWT Auth</a:t>
            </a:r>
            <a:endParaRPr/>
          </a:p>
          <a:p>
            <a:pPr indent="0" lvl="0" marL="0" rtl="0" algn="ctr">
              <a:spcBef>
                <a:spcPts val="1200"/>
              </a:spcBef>
              <a:spcAft>
                <a:spcPts val="0"/>
              </a:spcAft>
              <a:buNone/>
            </a:pPr>
            <a:r>
              <a:rPr lang="en-US"/>
              <a:t>↓</a:t>
            </a:r>
            <a:endParaRPr/>
          </a:p>
          <a:p>
            <a:pPr indent="0" lvl="0" marL="0" rtl="0" algn="ctr">
              <a:spcBef>
                <a:spcPts val="1200"/>
              </a:spcBef>
              <a:spcAft>
                <a:spcPts val="0"/>
              </a:spcAft>
              <a:buNone/>
            </a:pPr>
            <a:r>
              <a:rPr lang="en-US"/>
              <a:t>Controller</a:t>
            </a:r>
            <a:endParaRPr/>
          </a:p>
          <a:p>
            <a:pPr indent="0" lvl="0" marL="0" rtl="0" algn="ctr">
              <a:spcBef>
                <a:spcPts val="1200"/>
              </a:spcBef>
              <a:spcAft>
                <a:spcPts val="0"/>
              </a:spcAft>
              <a:buNone/>
            </a:pPr>
            <a:r>
              <a:rPr lang="en-US"/>
              <a:t>↓</a:t>
            </a:r>
            <a:endParaRPr/>
          </a:p>
          <a:p>
            <a:pPr indent="0" lvl="0" marL="0" rtl="0" algn="ctr">
              <a:spcBef>
                <a:spcPts val="1200"/>
              </a:spcBef>
              <a:spcAft>
                <a:spcPts val="0"/>
              </a:spcAft>
              <a:buNone/>
            </a:pPr>
            <a:r>
              <a:rPr lang="en-US"/>
              <a:t>Validation</a:t>
            </a:r>
            <a:endParaRPr/>
          </a:p>
          <a:p>
            <a:pPr indent="0" lvl="0" marL="0" rtl="0" algn="ctr">
              <a:spcBef>
                <a:spcPts val="1200"/>
              </a:spcBef>
              <a:spcAft>
                <a:spcPts val="0"/>
              </a:spcAft>
              <a:buNone/>
            </a:pPr>
            <a:r>
              <a:rPr lang="en-US"/>
              <a:t>↓</a:t>
            </a:r>
            <a:endParaRPr/>
          </a:p>
          <a:p>
            <a:pPr indent="0" lvl="0" marL="0" rtl="0" algn="ctr">
              <a:spcBef>
                <a:spcPts val="1200"/>
              </a:spcBef>
              <a:spcAft>
                <a:spcPts val="1200"/>
              </a:spcAft>
              <a:buNone/>
            </a:pPr>
            <a:r>
              <a:rPr lang="en-US"/>
              <a:t>SQL Server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f20ccbc9fc_1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11" name="Google Shape;111;g3f20ccbc9fc_1_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112" name="Google Shape;112;g3f20ccbc9fc_1_0"/>
          <p:cNvPicPr preferRelativeResize="0"/>
          <p:nvPr/>
        </p:nvPicPr>
        <p:blipFill>
          <a:blip r:embed="rId3">
            <a:alphaModFix/>
          </a:blip>
          <a:stretch>
            <a:fillRect/>
          </a:stretch>
        </p:blipFill>
        <p:spPr>
          <a:xfrm>
            <a:off x="0" y="457200"/>
            <a:ext cx="9144000" cy="5943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Project Overview</a:t>
            </a:r>
            <a:endParaRPr/>
          </a:p>
        </p:txBody>
      </p:sp>
      <p:sp>
        <p:nvSpPr>
          <p:cNvPr id="118" name="Google Shape;118;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Simulates enterprise customer data integration using API + SQL Server stored procedures.</a:t>
            </a:r>
            <a:endParaRPr sz="3200">
              <a:solidFill>
                <a:schemeClr val="dk1"/>
              </a:solidFill>
              <a:latin typeface="Calibri"/>
              <a:ea typeface="Calibri"/>
              <a:cs typeface="Calibri"/>
              <a:sym typeface="Calibri"/>
            </a:endParaRPr>
          </a:p>
          <a:p>
            <a:pPr indent="0" lvl="0" marL="342900" rtl="0" algn="l">
              <a:spcBef>
                <a:spcPts val="1200"/>
              </a:spcBef>
              <a:spcAft>
                <a:spcPts val="0"/>
              </a:spcAft>
              <a:buNone/>
            </a:pPr>
            <a:r>
              <a:t/>
            </a:r>
            <a:endParaRPr/>
          </a:p>
          <a:p>
            <a:pPr indent="0" lvl="0" marL="0" rtl="0" algn="l">
              <a:lnSpc>
                <a:spcPct val="115000"/>
              </a:lnSpc>
              <a:spcBef>
                <a:spcPts val="1200"/>
              </a:spcBef>
              <a:spcAft>
                <a:spcPts val="0"/>
              </a:spcAft>
              <a:buNone/>
            </a:pPr>
            <a:r>
              <a:rPr b="1" lang="en-US" sz="1400">
                <a:latin typeface="Arial"/>
                <a:ea typeface="Arial"/>
                <a:cs typeface="Arial"/>
                <a:sym typeface="Arial"/>
              </a:rPr>
              <a:t>Objective:</a:t>
            </a:r>
            <a:br>
              <a:rPr b="1" lang="en-US" sz="1400">
                <a:latin typeface="Arial"/>
                <a:ea typeface="Arial"/>
                <a:cs typeface="Arial"/>
                <a:sym typeface="Arial"/>
              </a:rPr>
            </a:br>
            <a:r>
              <a:rPr lang="en-US" sz="1400">
                <a:latin typeface="Arial"/>
                <a:ea typeface="Arial"/>
                <a:cs typeface="Arial"/>
                <a:sym typeface="Arial"/>
              </a:rPr>
              <a:t> Build a simplified enterprise-style system that simulates municipal customer data integration.</a:t>
            </a:r>
            <a:endParaRPr sz="1400">
              <a:latin typeface="Arial"/>
              <a:ea typeface="Arial"/>
              <a:cs typeface="Arial"/>
              <a:sym typeface="Arial"/>
            </a:endParaRPr>
          </a:p>
          <a:p>
            <a:pPr indent="0" lvl="0" marL="0" rtl="0" algn="l">
              <a:lnSpc>
                <a:spcPct val="115000"/>
              </a:lnSpc>
              <a:spcBef>
                <a:spcPts val="1200"/>
              </a:spcBef>
              <a:spcAft>
                <a:spcPts val="0"/>
              </a:spcAft>
              <a:buNone/>
            </a:pPr>
            <a:r>
              <a:rPr b="1" lang="en-US" sz="1400">
                <a:latin typeface="Arial"/>
                <a:ea typeface="Arial"/>
                <a:cs typeface="Arial"/>
                <a:sym typeface="Arial"/>
              </a:rPr>
              <a:t>Purpose:</a:t>
            </a:r>
            <a:endParaRPr b="1" sz="1400">
              <a:latin typeface="Arial"/>
              <a:ea typeface="Arial"/>
              <a:cs typeface="Arial"/>
              <a:sym typeface="Arial"/>
            </a:endParaRPr>
          </a:p>
          <a:p>
            <a:pPr indent="-317500" lvl="0" marL="457200" rtl="0" algn="l">
              <a:lnSpc>
                <a:spcPct val="115000"/>
              </a:lnSpc>
              <a:spcBef>
                <a:spcPts val="1200"/>
              </a:spcBef>
              <a:spcAft>
                <a:spcPts val="0"/>
              </a:spcAft>
              <a:buSzPts val="1400"/>
              <a:buChar char="●"/>
            </a:pPr>
            <a:r>
              <a:rPr lang="en-US" sz="1400">
                <a:latin typeface="Arial"/>
                <a:ea typeface="Arial"/>
                <a:cs typeface="Arial"/>
                <a:sym typeface="Arial"/>
              </a:rPr>
              <a:t>Accept customer data from external systems</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Process via API layer</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Store in SQL Server using stored procedures</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Maintain audit logs for traceability</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This System Demonstrates:</a:t>
            </a:r>
            <a:endParaRPr/>
          </a:p>
        </p:txBody>
      </p:sp>
      <p:sp>
        <p:nvSpPr>
          <p:cNvPr id="124" name="Google Shape;124;p3"/>
          <p:cNvSpPr txBox="1"/>
          <p:nvPr>
            <p:ph idx="1" type="body"/>
          </p:nvPr>
        </p:nvSpPr>
        <p:spPr>
          <a:xfrm>
            <a:off x="457200" y="1546625"/>
            <a:ext cx="8229600" cy="4526100"/>
          </a:xfrm>
          <a:prstGeom prst="rect">
            <a:avLst/>
          </a:prstGeom>
          <a:noFill/>
          <a:ln>
            <a:noFill/>
          </a:ln>
        </p:spPr>
        <p:txBody>
          <a:bodyPr anchorCtr="0" anchor="t" bIns="45700" lIns="91425" spcFirstLastPara="1" rIns="91425" wrap="square" tIns="45700">
            <a:normAutofit/>
          </a:bodyPr>
          <a:lstStyle/>
          <a:p>
            <a:pPr indent="-317500" lvl="0" marL="457200" rtl="0" algn="l">
              <a:spcBef>
                <a:spcPts val="1200"/>
              </a:spcBef>
              <a:spcAft>
                <a:spcPts val="0"/>
              </a:spcAft>
              <a:buClr>
                <a:srgbClr val="000000"/>
              </a:buClr>
              <a:buSzPts val="1400"/>
              <a:buFont typeface="Arial"/>
              <a:buChar char="●"/>
            </a:pPr>
            <a:r>
              <a:rPr lang="en-US" sz="1400"/>
              <a:t>API-based data ingestion</a:t>
            </a:r>
            <a:endParaRPr sz="1400"/>
          </a:p>
          <a:p>
            <a:pPr indent="-317500" lvl="0" marL="457200" rtl="0" algn="l">
              <a:spcBef>
                <a:spcPts val="0"/>
              </a:spcBef>
              <a:spcAft>
                <a:spcPts val="0"/>
              </a:spcAft>
              <a:buClr>
                <a:srgbClr val="000000"/>
              </a:buClr>
              <a:buSzPts val="1400"/>
              <a:buFont typeface="Arial"/>
              <a:buChar char="●"/>
            </a:pPr>
            <a:r>
              <a:rPr lang="en-US" sz="1400"/>
              <a:t>SQL Server stored procedure execution</a:t>
            </a:r>
            <a:endParaRPr sz="1400"/>
          </a:p>
          <a:p>
            <a:pPr indent="-317500" lvl="0" marL="457200" rtl="0" algn="l">
              <a:spcBef>
                <a:spcPts val="0"/>
              </a:spcBef>
              <a:spcAft>
                <a:spcPts val="0"/>
              </a:spcAft>
              <a:buClr>
                <a:srgbClr val="000000"/>
              </a:buClr>
              <a:buSzPts val="1400"/>
              <a:buFont typeface="Arial"/>
              <a:buChar char="●"/>
            </a:pPr>
            <a:r>
              <a:rPr lang="en-US" sz="1400"/>
              <a:t>Data validation and duplicate handling</a:t>
            </a:r>
            <a:endParaRPr sz="1400"/>
          </a:p>
          <a:p>
            <a:pPr indent="-317500" lvl="0" marL="457200" rtl="0" algn="l">
              <a:spcBef>
                <a:spcPts val="0"/>
              </a:spcBef>
              <a:spcAft>
                <a:spcPts val="0"/>
              </a:spcAft>
              <a:buClr>
                <a:srgbClr val="000000"/>
              </a:buClr>
              <a:buSzPts val="1400"/>
              <a:buFont typeface="Arial"/>
              <a:buChar char="●"/>
            </a:pPr>
            <a:r>
              <a:rPr lang="en-US" sz="1400"/>
              <a:t>Audit logging for system tracking</a:t>
            </a:r>
            <a:endParaRPr sz="1400"/>
          </a:p>
          <a:p>
            <a:pPr indent="-317500" lvl="0" marL="457200" rtl="0" algn="l">
              <a:spcBef>
                <a:spcPts val="0"/>
              </a:spcBef>
              <a:spcAft>
                <a:spcPts val="0"/>
              </a:spcAft>
              <a:buClr>
                <a:srgbClr val="000000"/>
              </a:buClr>
              <a:buSzPts val="1400"/>
              <a:buFont typeface="Arial"/>
              <a:buChar char="●"/>
            </a:pPr>
            <a:r>
              <a:rPr lang="en-US" sz="1400"/>
              <a:t>End-to-end integration between application and database layers</a:t>
            </a:r>
            <a:endParaRPr sz="1400">
              <a:solidFill>
                <a:schemeClr val="dk1"/>
              </a:solidFill>
              <a:latin typeface="Calibri"/>
              <a:ea typeface="Calibri"/>
              <a:cs typeface="Calibri"/>
              <a:sym typeface="Calibri"/>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g3f20ccbc9fc_3_78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Business Problem</a:t>
            </a:r>
            <a:endParaRPr/>
          </a:p>
        </p:txBody>
      </p:sp>
      <p:sp>
        <p:nvSpPr>
          <p:cNvPr id="130" name="Google Shape;130;g3f20ccbc9fc_3_78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Need for reliable data integration, duplicate prevention, and audit logging.</a:t>
            </a:r>
            <a:endParaRPr sz="3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400">
                <a:latin typeface="Arial"/>
                <a:ea typeface="Arial"/>
                <a:cs typeface="Arial"/>
                <a:sym typeface="Arial"/>
              </a:rPr>
              <a:t>Organizations need to:</a:t>
            </a:r>
            <a:endParaRPr sz="1400">
              <a:latin typeface="Arial"/>
              <a:ea typeface="Arial"/>
              <a:cs typeface="Arial"/>
              <a:sym typeface="Arial"/>
            </a:endParaRPr>
          </a:p>
          <a:p>
            <a:pPr indent="-317500" lvl="0" marL="457200" rtl="0" algn="l">
              <a:lnSpc>
                <a:spcPct val="115000"/>
              </a:lnSpc>
              <a:spcBef>
                <a:spcPts val="1200"/>
              </a:spcBef>
              <a:spcAft>
                <a:spcPts val="0"/>
              </a:spcAft>
              <a:buSzPts val="1400"/>
              <a:buChar char="●"/>
            </a:pPr>
            <a:r>
              <a:rPr lang="en-US" sz="1400">
                <a:latin typeface="Arial"/>
                <a:ea typeface="Arial"/>
                <a:cs typeface="Arial"/>
                <a:sym typeface="Arial"/>
              </a:rPr>
              <a:t>Integrate data from multiple external systems</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Prevent duplicate records</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Maintain audit history for compliance</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Ensure data integrity across systems</a:t>
            </a:r>
            <a:endParaRPr sz="1400">
              <a:latin typeface="Arial"/>
              <a:ea typeface="Arial"/>
              <a:cs typeface="Arial"/>
              <a:sym typeface="Arial"/>
            </a:endParaRPr>
          </a:p>
          <a:p>
            <a:pPr indent="0" lvl="0" marL="0" rtl="0" algn="l">
              <a:lnSpc>
                <a:spcPct val="115000"/>
              </a:lnSpc>
              <a:spcBef>
                <a:spcPts val="1200"/>
              </a:spcBef>
              <a:spcAft>
                <a:spcPts val="0"/>
              </a:spcAft>
              <a:buNone/>
            </a:pPr>
            <a:r>
              <a:rPr b="1" lang="en-US" sz="1400">
                <a:latin typeface="Arial"/>
                <a:ea typeface="Arial"/>
                <a:cs typeface="Arial"/>
                <a:sym typeface="Arial"/>
              </a:rPr>
              <a:t>This project simulates that workflow.</a:t>
            </a:r>
            <a:endParaRPr b="1" sz="14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System Architecture</a:t>
            </a:r>
            <a:endParaRPr/>
          </a:p>
        </p:txBody>
      </p:sp>
      <p:sp>
        <p:nvSpPr>
          <p:cNvPr id="136" name="Google Shape;136;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55000" lnSpcReduction="20000"/>
          </a:bodyPr>
          <a:lstStyle/>
          <a:p>
            <a:pPr indent="-25146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External System → API → Controller → Stored Procedure → Database</a:t>
            </a:r>
            <a:endParaRPr sz="3200">
              <a:solidFill>
                <a:schemeClr val="dk1"/>
              </a:solidFill>
              <a:latin typeface="Calibri"/>
              <a:ea typeface="Calibri"/>
              <a:cs typeface="Calibri"/>
              <a:sym typeface="Calibri"/>
            </a:endParaRPr>
          </a:p>
          <a:p>
            <a:pPr indent="0" lvl="0" marL="0" rtl="0" algn="l">
              <a:spcBef>
                <a:spcPts val="1200"/>
              </a:spcBef>
              <a:spcAft>
                <a:spcPts val="0"/>
              </a:spcAft>
              <a:buNone/>
            </a:pPr>
            <a:r>
              <a:t/>
            </a:r>
            <a:endParaRPr/>
          </a:p>
          <a:p>
            <a:pPr indent="0" lvl="0" marL="0" rtl="0" algn="ctr">
              <a:spcBef>
                <a:spcPts val="1200"/>
              </a:spcBef>
              <a:spcAft>
                <a:spcPts val="0"/>
              </a:spcAft>
              <a:buClr>
                <a:schemeClr val="dk1"/>
              </a:buClr>
              <a:buSzPct val="50000"/>
              <a:buFont typeface="Arial"/>
              <a:buNone/>
            </a:pPr>
            <a:r>
              <a:rPr lang="en-US" sz="2200"/>
              <a:t>External System / Swagger</a:t>
            </a:r>
            <a:endParaRPr sz="2200"/>
          </a:p>
          <a:p>
            <a:pPr indent="0" lvl="0" marL="0" rtl="0" algn="ctr">
              <a:spcBef>
                <a:spcPts val="1200"/>
              </a:spcBef>
              <a:spcAft>
                <a:spcPts val="0"/>
              </a:spcAft>
              <a:buClr>
                <a:schemeClr val="dk1"/>
              </a:buClr>
              <a:buSzPct val="50000"/>
              <a:buFont typeface="Arial"/>
              <a:buNone/>
            </a:pPr>
            <a:r>
              <a:rPr lang="en-US" sz="2200"/>
              <a:t>          ↓</a:t>
            </a:r>
            <a:endParaRPr sz="2200"/>
          </a:p>
          <a:p>
            <a:pPr indent="0" lvl="0" marL="0" rtl="0" algn="ctr">
              <a:spcBef>
                <a:spcPts val="1200"/>
              </a:spcBef>
              <a:spcAft>
                <a:spcPts val="0"/>
              </a:spcAft>
              <a:buClr>
                <a:schemeClr val="dk1"/>
              </a:buClr>
              <a:buSzPct val="50000"/>
              <a:buFont typeface="Arial"/>
              <a:buNone/>
            </a:pPr>
            <a:r>
              <a:rPr lang="en-US" sz="2200"/>
              <a:t>ASP.NET Core Web API</a:t>
            </a:r>
            <a:endParaRPr sz="2200"/>
          </a:p>
          <a:p>
            <a:pPr indent="0" lvl="0" marL="0" rtl="0" algn="ctr">
              <a:spcBef>
                <a:spcPts val="1200"/>
              </a:spcBef>
              <a:spcAft>
                <a:spcPts val="0"/>
              </a:spcAft>
              <a:buClr>
                <a:schemeClr val="dk1"/>
              </a:buClr>
              <a:buSzPct val="50000"/>
              <a:buFont typeface="Arial"/>
              <a:buNone/>
            </a:pPr>
            <a:r>
              <a:rPr lang="en-US" sz="2200"/>
              <a:t>          ↓</a:t>
            </a:r>
            <a:endParaRPr sz="2200"/>
          </a:p>
          <a:p>
            <a:pPr indent="0" lvl="0" marL="0" rtl="0" algn="ctr">
              <a:spcBef>
                <a:spcPts val="1200"/>
              </a:spcBef>
              <a:spcAft>
                <a:spcPts val="0"/>
              </a:spcAft>
              <a:buClr>
                <a:schemeClr val="dk1"/>
              </a:buClr>
              <a:buSzPct val="50000"/>
              <a:buFont typeface="Arial"/>
              <a:buNone/>
            </a:pPr>
            <a:r>
              <a:rPr lang="en-US" sz="2200"/>
              <a:t>Controller Layer</a:t>
            </a:r>
            <a:endParaRPr sz="2200"/>
          </a:p>
          <a:p>
            <a:pPr indent="0" lvl="0" marL="0" rtl="0" algn="ctr">
              <a:spcBef>
                <a:spcPts val="1200"/>
              </a:spcBef>
              <a:spcAft>
                <a:spcPts val="0"/>
              </a:spcAft>
              <a:buClr>
                <a:schemeClr val="dk1"/>
              </a:buClr>
              <a:buSzPct val="50000"/>
              <a:buFont typeface="Arial"/>
              <a:buNone/>
            </a:pPr>
            <a:r>
              <a:rPr lang="en-US" sz="2200"/>
              <a:t>          ↓</a:t>
            </a:r>
            <a:endParaRPr sz="2200"/>
          </a:p>
          <a:p>
            <a:pPr indent="0" lvl="0" marL="0" rtl="0" algn="ctr">
              <a:spcBef>
                <a:spcPts val="1200"/>
              </a:spcBef>
              <a:spcAft>
                <a:spcPts val="0"/>
              </a:spcAft>
              <a:buClr>
                <a:schemeClr val="dk1"/>
              </a:buClr>
              <a:buSzPct val="50000"/>
              <a:buFont typeface="Arial"/>
              <a:buNone/>
            </a:pPr>
            <a:r>
              <a:rPr lang="en-US" sz="2200"/>
              <a:t>SQL Stored Procedure</a:t>
            </a:r>
            <a:endParaRPr sz="2200"/>
          </a:p>
          <a:p>
            <a:pPr indent="0" lvl="0" marL="0" rtl="0" algn="ctr">
              <a:spcBef>
                <a:spcPts val="1200"/>
              </a:spcBef>
              <a:spcAft>
                <a:spcPts val="0"/>
              </a:spcAft>
              <a:buClr>
                <a:schemeClr val="dk1"/>
              </a:buClr>
              <a:buSzPct val="50000"/>
              <a:buFont typeface="Arial"/>
              <a:buNone/>
            </a:pPr>
            <a:r>
              <a:rPr lang="en-US" sz="2200"/>
              <a:t>          ↓</a:t>
            </a:r>
            <a:endParaRPr sz="2200"/>
          </a:p>
          <a:p>
            <a:pPr indent="0" lvl="0" marL="0" rtl="0" algn="ctr">
              <a:spcBef>
                <a:spcPts val="1200"/>
              </a:spcBef>
              <a:spcAft>
                <a:spcPts val="0"/>
              </a:spcAft>
              <a:buClr>
                <a:schemeClr val="dk1"/>
              </a:buClr>
              <a:buSzPct val="50000"/>
              <a:buFont typeface="Arial"/>
              <a:buNone/>
            </a:pPr>
            <a:r>
              <a:rPr lang="en-US" sz="2200"/>
              <a:t>Database Layer</a:t>
            </a:r>
            <a:endParaRPr sz="2200"/>
          </a:p>
          <a:p>
            <a:pPr indent="0" lvl="0" marL="0" rtl="0" algn="ctr">
              <a:spcBef>
                <a:spcPts val="1200"/>
              </a:spcBef>
              <a:spcAft>
                <a:spcPts val="0"/>
              </a:spcAft>
              <a:buClr>
                <a:schemeClr val="dk1"/>
              </a:buClr>
              <a:buSzPct val="50000"/>
              <a:buFont typeface="Arial"/>
              <a:buNone/>
            </a:pPr>
            <a:r>
              <a:rPr lang="en-US" sz="2200"/>
              <a:t>   ├── Customer Table</a:t>
            </a:r>
            <a:endParaRPr sz="2200"/>
          </a:p>
          <a:p>
            <a:pPr indent="0" lvl="0" marL="0" rtl="0" algn="ctr">
              <a:spcBef>
                <a:spcPts val="1200"/>
              </a:spcBef>
              <a:spcAft>
                <a:spcPts val="0"/>
              </a:spcAft>
              <a:buClr>
                <a:schemeClr val="dk1"/>
              </a:buClr>
              <a:buSzPct val="50000"/>
              <a:buFont typeface="Arial"/>
              <a:buNone/>
            </a:pPr>
            <a:r>
              <a:rPr lang="en-US" sz="2200"/>
              <a:t>   └── SyncLog Table</a:t>
            </a:r>
            <a:endParaRPr sz="2200"/>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Key Components</a:t>
            </a:r>
            <a:endParaRPr/>
          </a:p>
        </p:txBody>
      </p:sp>
      <p:sp>
        <p:nvSpPr>
          <p:cNvPr id="142" name="Google Shape;142;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2766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API Layer, SQL Server, Stored Procedures, Audit Logging (SyncLog)</a:t>
            </a:r>
            <a:endParaRPr sz="3200">
              <a:solidFill>
                <a:schemeClr val="dk1"/>
              </a:solidFill>
              <a:latin typeface="Calibri"/>
              <a:ea typeface="Calibri"/>
              <a:cs typeface="Calibri"/>
              <a:sym typeface="Calibri"/>
            </a:endParaRPr>
          </a:p>
          <a:p>
            <a:pPr indent="0" lvl="0" marL="0" rtl="0" algn="l">
              <a:spcBef>
                <a:spcPts val="1200"/>
              </a:spcBef>
              <a:spcAft>
                <a:spcPts val="0"/>
              </a:spcAft>
              <a:buNone/>
            </a:pPr>
            <a:r>
              <a:t/>
            </a:r>
            <a:endParaRPr/>
          </a:p>
          <a:p>
            <a:pPr indent="0" lvl="0" marL="0" rtl="0" algn="l">
              <a:lnSpc>
                <a:spcPct val="115000"/>
              </a:lnSpc>
              <a:spcBef>
                <a:spcPts val="1200"/>
              </a:spcBef>
              <a:spcAft>
                <a:spcPts val="0"/>
              </a:spcAft>
              <a:buClr>
                <a:schemeClr val="dk1"/>
              </a:buClr>
              <a:buSzPct val="78571"/>
              <a:buFont typeface="Arial"/>
              <a:buNone/>
            </a:pPr>
            <a:r>
              <a:rPr b="1" lang="en-US" sz="1400">
                <a:latin typeface="Arial"/>
                <a:ea typeface="Arial"/>
                <a:cs typeface="Arial"/>
                <a:sym typeface="Arial"/>
              </a:rPr>
              <a:t>API Layer</a:t>
            </a:r>
            <a:endParaRPr b="1" sz="1400">
              <a:latin typeface="Arial"/>
              <a:ea typeface="Arial"/>
              <a:cs typeface="Arial"/>
              <a:sym typeface="Arial"/>
            </a:endParaRPr>
          </a:p>
          <a:p>
            <a:pPr indent="-310833" lvl="0" marL="457200" rtl="0" algn="l">
              <a:lnSpc>
                <a:spcPct val="115000"/>
              </a:lnSpc>
              <a:spcBef>
                <a:spcPts val="1200"/>
              </a:spcBef>
              <a:spcAft>
                <a:spcPts val="0"/>
              </a:spcAft>
              <a:buSzPct val="100000"/>
              <a:buChar char="●"/>
            </a:pPr>
            <a:r>
              <a:rPr lang="en-US" sz="1400">
                <a:latin typeface="Arial"/>
                <a:ea typeface="Arial"/>
                <a:cs typeface="Arial"/>
                <a:sym typeface="Arial"/>
              </a:rPr>
              <a:t>ASP.NET Core Web API</a:t>
            </a:r>
            <a:endParaRPr sz="1400">
              <a:latin typeface="Arial"/>
              <a:ea typeface="Arial"/>
              <a:cs typeface="Arial"/>
              <a:sym typeface="Arial"/>
            </a:endParaRPr>
          </a:p>
          <a:p>
            <a:pPr indent="-310833" lvl="0" marL="457200" rtl="0" algn="l">
              <a:lnSpc>
                <a:spcPct val="115000"/>
              </a:lnSpc>
              <a:spcBef>
                <a:spcPts val="0"/>
              </a:spcBef>
              <a:spcAft>
                <a:spcPts val="0"/>
              </a:spcAft>
              <a:buSzPct val="100000"/>
              <a:buChar char="●"/>
            </a:pPr>
            <a:r>
              <a:rPr lang="en-US" sz="1400">
                <a:latin typeface="Arial"/>
                <a:ea typeface="Arial"/>
                <a:cs typeface="Arial"/>
                <a:sym typeface="Arial"/>
              </a:rPr>
              <a:t>REST endpoints</a:t>
            </a:r>
            <a:endParaRPr sz="1400">
              <a:latin typeface="Arial"/>
              <a:ea typeface="Arial"/>
              <a:cs typeface="Arial"/>
              <a:sym typeface="Arial"/>
            </a:endParaRPr>
          </a:p>
          <a:p>
            <a:pPr indent="-310833" lvl="0" marL="457200" rtl="0" algn="l">
              <a:lnSpc>
                <a:spcPct val="115000"/>
              </a:lnSpc>
              <a:spcBef>
                <a:spcPts val="0"/>
              </a:spcBef>
              <a:spcAft>
                <a:spcPts val="0"/>
              </a:spcAft>
              <a:buSzPct val="100000"/>
              <a:buChar char="●"/>
            </a:pPr>
            <a:r>
              <a:rPr lang="en-US" sz="1400">
                <a:latin typeface="Arial"/>
                <a:ea typeface="Arial"/>
                <a:cs typeface="Arial"/>
                <a:sym typeface="Arial"/>
              </a:rPr>
              <a:t>JSON request handling</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ct val="78571"/>
              <a:buFont typeface="Arial"/>
              <a:buNone/>
            </a:pPr>
            <a:r>
              <a:rPr b="1" lang="en-US" sz="1400">
                <a:latin typeface="Arial"/>
                <a:ea typeface="Arial"/>
                <a:cs typeface="Arial"/>
                <a:sym typeface="Arial"/>
              </a:rPr>
              <a:t>Database Layer</a:t>
            </a:r>
            <a:endParaRPr b="1" sz="1400">
              <a:latin typeface="Arial"/>
              <a:ea typeface="Arial"/>
              <a:cs typeface="Arial"/>
              <a:sym typeface="Arial"/>
            </a:endParaRPr>
          </a:p>
          <a:p>
            <a:pPr indent="-310833" lvl="0" marL="457200" rtl="0" algn="l">
              <a:lnSpc>
                <a:spcPct val="115000"/>
              </a:lnSpc>
              <a:spcBef>
                <a:spcPts val="1200"/>
              </a:spcBef>
              <a:spcAft>
                <a:spcPts val="0"/>
              </a:spcAft>
              <a:buSzPct val="100000"/>
              <a:buChar char="●"/>
            </a:pPr>
            <a:r>
              <a:rPr lang="en-US" sz="1400">
                <a:latin typeface="Arial"/>
                <a:ea typeface="Arial"/>
                <a:cs typeface="Arial"/>
                <a:sym typeface="Arial"/>
              </a:rPr>
              <a:t>SQL Server</a:t>
            </a:r>
            <a:endParaRPr sz="1400">
              <a:latin typeface="Arial"/>
              <a:ea typeface="Arial"/>
              <a:cs typeface="Arial"/>
              <a:sym typeface="Arial"/>
            </a:endParaRPr>
          </a:p>
          <a:p>
            <a:pPr indent="-310833" lvl="0" marL="457200" rtl="0" algn="l">
              <a:lnSpc>
                <a:spcPct val="115000"/>
              </a:lnSpc>
              <a:spcBef>
                <a:spcPts val="0"/>
              </a:spcBef>
              <a:spcAft>
                <a:spcPts val="0"/>
              </a:spcAft>
              <a:buSzPct val="100000"/>
              <a:buChar char="●"/>
            </a:pPr>
            <a:r>
              <a:rPr lang="en-US" sz="1400">
                <a:latin typeface="Arial"/>
                <a:ea typeface="Arial"/>
                <a:cs typeface="Arial"/>
                <a:sym typeface="Arial"/>
              </a:rPr>
              <a:t>Stored procedures</a:t>
            </a:r>
            <a:endParaRPr sz="1400">
              <a:latin typeface="Arial"/>
              <a:ea typeface="Arial"/>
              <a:cs typeface="Arial"/>
              <a:sym typeface="Arial"/>
            </a:endParaRPr>
          </a:p>
          <a:p>
            <a:pPr indent="-310833" lvl="0" marL="457200" rtl="0" algn="l">
              <a:lnSpc>
                <a:spcPct val="115000"/>
              </a:lnSpc>
              <a:spcBef>
                <a:spcPts val="0"/>
              </a:spcBef>
              <a:spcAft>
                <a:spcPts val="0"/>
              </a:spcAft>
              <a:buSzPct val="100000"/>
              <a:buChar char="●"/>
            </a:pPr>
            <a:r>
              <a:rPr lang="en-US" sz="1400">
                <a:latin typeface="Arial"/>
                <a:ea typeface="Arial"/>
                <a:cs typeface="Arial"/>
                <a:sym typeface="Arial"/>
              </a:rPr>
              <a:t>Relational schema</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ct val="78571"/>
              <a:buFont typeface="Arial"/>
              <a:buNone/>
            </a:pPr>
            <a:r>
              <a:rPr b="1" lang="en-US" sz="1400">
                <a:latin typeface="Arial"/>
                <a:ea typeface="Arial"/>
                <a:cs typeface="Arial"/>
                <a:sym typeface="Arial"/>
              </a:rPr>
              <a:t>Audit Layer</a:t>
            </a:r>
            <a:endParaRPr b="1" sz="1400">
              <a:latin typeface="Arial"/>
              <a:ea typeface="Arial"/>
              <a:cs typeface="Arial"/>
              <a:sym typeface="Arial"/>
            </a:endParaRPr>
          </a:p>
          <a:p>
            <a:pPr indent="-310833" lvl="0" marL="457200" rtl="0" algn="l">
              <a:lnSpc>
                <a:spcPct val="115000"/>
              </a:lnSpc>
              <a:spcBef>
                <a:spcPts val="1200"/>
              </a:spcBef>
              <a:spcAft>
                <a:spcPts val="0"/>
              </a:spcAft>
              <a:buSzPct val="100000"/>
              <a:buChar char="●"/>
            </a:pPr>
            <a:r>
              <a:rPr lang="en-US" sz="1400">
                <a:latin typeface="Arial"/>
                <a:ea typeface="Arial"/>
                <a:cs typeface="Arial"/>
                <a:sym typeface="Arial"/>
              </a:rPr>
              <a:t>SyncLog table tracks all operations</a:t>
            </a:r>
            <a:endParaRPr sz="14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Database Design</a:t>
            </a:r>
            <a:endParaRPr/>
          </a:p>
        </p:txBody>
      </p:sp>
      <p:sp>
        <p:nvSpPr>
          <p:cNvPr id="148" name="Google Shape;148;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15000"/>
              </a:lnSpc>
              <a:spcBef>
                <a:spcPts val="1200"/>
              </a:spcBef>
              <a:spcAft>
                <a:spcPts val="0"/>
              </a:spcAft>
              <a:buNone/>
            </a:pPr>
            <a:r>
              <a:rPr b="1" lang="en-US" sz="1400">
                <a:latin typeface="Arial"/>
                <a:ea typeface="Arial"/>
                <a:cs typeface="Arial"/>
                <a:sym typeface="Arial"/>
              </a:rPr>
              <a:t>Customer Table</a:t>
            </a:r>
            <a:endParaRPr b="1" sz="1400">
              <a:latin typeface="Arial"/>
              <a:ea typeface="Arial"/>
              <a:cs typeface="Arial"/>
              <a:sym typeface="Arial"/>
            </a:endParaRPr>
          </a:p>
          <a:p>
            <a:pPr indent="-317500" lvl="0" marL="457200" rtl="0" algn="l">
              <a:lnSpc>
                <a:spcPct val="115000"/>
              </a:lnSpc>
              <a:spcBef>
                <a:spcPts val="1200"/>
              </a:spcBef>
              <a:spcAft>
                <a:spcPts val="0"/>
              </a:spcAft>
              <a:buSzPts val="1400"/>
              <a:buChar char="●"/>
            </a:pPr>
            <a:r>
              <a:rPr lang="en-US" sz="1400">
                <a:latin typeface="Arial"/>
                <a:ea typeface="Arial"/>
                <a:cs typeface="Arial"/>
                <a:sym typeface="Arial"/>
              </a:rPr>
              <a:t>CustomerID (PK)</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CRMCustomerID</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Name fields</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Contact info</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LastUpdated</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IsDeleted (soft delete flag)</a:t>
            </a:r>
            <a:endParaRPr sz="1400">
              <a:latin typeface="Arial"/>
              <a:ea typeface="Arial"/>
              <a:cs typeface="Arial"/>
              <a:sym typeface="Arial"/>
            </a:endParaRPr>
          </a:p>
          <a:p>
            <a:pPr indent="0" lvl="0" marL="0" rtl="0" algn="l">
              <a:lnSpc>
                <a:spcPct val="115000"/>
              </a:lnSpc>
              <a:spcBef>
                <a:spcPts val="1200"/>
              </a:spcBef>
              <a:spcAft>
                <a:spcPts val="0"/>
              </a:spcAft>
              <a:buNone/>
            </a:pPr>
            <a:r>
              <a:rPr b="1" lang="en-US" sz="1400">
                <a:latin typeface="Arial"/>
                <a:ea typeface="Arial"/>
                <a:cs typeface="Arial"/>
                <a:sym typeface="Arial"/>
              </a:rPr>
              <a:t>SyncLog Table for audit trail</a:t>
            </a:r>
            <a:endParaRPr b="1" sz="1400">
              <a:latin typeface="Arial"/>
              <a:ea typeface="Arial"/>
              <a:cs typeface="Arial"/>
              <a:sym typeface="Arial"/>
            </a:endParaRPr>
          </a:p>
          <a:p>
            <a:pPr indent="-317500" lvl="0" marL="457200" rtl="0" algn="l">
              <a:lnSpc>
                <a:spcPct val="115000"/>
              </a:lnSpc>
              <a:spcBef>
                <a:spcPts val="1200"/>
              </a:spcBef>
              <a:spcAft>
                <a:spcPts val="0"/>
              </a:spcAft>
              <a:buSzPts val="1400"/>
              <a:buChar char="●"/>
            </a:pPr>
            <a:r>
              <a:rPr lang="en-US" sz="1400">
                <a:latin typeface="Arial"/>
                <a:ea typeface="Arial"/>
                <a:cs typeface="Arial"/>
                <a:sym typeface="Arial"/>
              </a:rPr>
              <a:t>LogID (PK)</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CRMCustomerID</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Status (Success / Skipped)</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Message</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LogDate</a:t>
            </a:r>
            <a:endParaRPr sz="1400">
              <a:latin typeface="Arial"/>
              <a:ea typeface="Arial"/>
              <a:cs typeface="Arial"/>
              <a:sym typeface="Arial"/>
            </a:endParaRPr>
          </a:p>
          <a:p>
            <a:pPr indent="0" lvl="0" marL="0" rtl="0" algn="l">
              <a:lnSpc>
                <a:spcPct val="115000"/>
              </a:lnSpc>
              <a:spcBef>
                <a:spcPts val="1200"/>
              </a:spcBef>
              <a:spcAft>
                <a:spcPts val="0"/>
              </a:spcAft>
              <a:buNone/>
            </a:pPr>
            <a:r>
              <a:rPr lang="en-US" sz="1400">
                <a:solidFill>
                  <a:srgbClr val="0000FF"/>
                </a:solidFill>
                <a:latin typeface="Arial"/>
                <a:ea typeface="Arial"/>
                <a:cs typeface="Arial"/>
                <a:sym typeface="Arial"/>
              </a:rPr>
              <a:t>SELECT</a:t>
            </a:r>
            <a:r>
              <a:rPr lang="en-US" sz="1400">
                <a:solidFill>
                  <a:srgbClr val="000000"/>
                </a:solidFill>
                <a:latin typeface="Arial"/>
                <a:ea typeface="Arial"/>
                <a:cs typeface="Arial"/>
                <a:sym typeface="Arial"/>
              </a:rPr>
              <a:t> </a:t>
            </a:r>
            <a:r>
              <a:rPr lang="en-US" sz="1400">
                <a:solidFill>
                  <a:srgbClr val="808080"/>
                </a:solidFill>
                <a:latin typeface="Arial"/>
                <a:ea typeface="Arial"/>
                <a:cs typeface="Arial"/>
                <a:sym typeface="Arial"/>
              </a:rPr>
              <a:t>*</a:t>
            </a:r>
            <a:r>
              <a:rPr lang="en-US" sz="1400">
                <a:solidFill>
                  <a:srgbClr val="000000"/>
                </a:solidFill>
                <a:latin typeface="Arial"/>
                <a:ea typeface="Arial"/>
                <a:cs typeface="Arial"/>
                <a:sym typeface="Arial"/>
              </a:rPr>
              <a:t> </a:t>
            </a:r>
            <a:r>
              <a:rPr lang="en-US" sz="1400">
                <a:solidFill>
                  <a:srgbClr val="0000FF"/>
                </a:solidFill>
                <a:latin typeface="Arial"/>
                <a:ea typeface="Arial"/>
                <a:cs typeface="Arial"/>
                <a:sym typeface="Arial"/>
              </a:rPr>
              <a:t>FROM</a:t>
            </a:r>
            <a:r>
              <a:rPr lang="en-US" sz="1400">
                <a:solidFill>
                  <a:srgbClr val="000000"/>
                </a:solidFill>
                <a:latin typeface="Arial"/>
                <a:ea typeface="Arial"/>
                <a:cs typeface="Arial"/>
                <a:sym typeface="Arial"/>
              </a:rPr>
              <a:t> Customer</a:t>
            </a:r>
            <a:r>
              <a:rPr lang="en-US" sz="1400">
                <a:solidFill>
                  <a:srgbClr val="808080"/>
                </a:solidFill>
                <a:latin typeface="Arial"/>
                <a:ea typeface="Arial"/>
                <a:cs typeface="Arial"/>
                <a:sym typeface="Arial"/>
              </a:rPr>
              <a:t>;</a:t>
            </a:r>
            <a:endParaRPr sz="14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US" sz="1400">
                <a:solidFill>
                  <a:srgbClr val="0000FF"/>
                </a:solidFill>
                <a:latin typeface="Arial"/>
                <a:ea typeface="Arial"/>
                <a:cs typeface="Arial"/>
                <a:sym typeface="Arial"/>
              </a:rPr>
              <a:t>SELECT</a:t>
            </a:r>
            <a:r>
              <a:rPr lang="en-US" sz="1400">
                <a:solidFill>
                  <a:srgbClr val="000000"/>
                </a:solidFill>
                <a:latin typeface="Arial"/>
                <a:ea typeface="Arial"/>
                <a:cs typeface="Arial"/>
                <a:sym typeface="Arial"/>
              </a:rPr>
              <a:t> </a:t>
            </a:r>
            <a:r>
              <a:rPr lang="en-US" sz="1400">
                <a:solidFill>
                  <a:srgbClr val="808080"/>
                </a:solidFill>
                <a:latin typeface="Arial"/>
                <a:ea typeface="Arial"/>
                <a:cs typeface="Arial"/>
                <a:sym typeface="Arial"/>
              </a:rPr>
              <a:t>*</a:t>
            </a:r>
            <a:r>
              <a:rPr lang="en-US" sz="1400">
                <a:solidFill>
                  <a:srgbClr val="000000"/>
                </a:solidFill>
                <a:latin typeface="Arial"/>
                <a:ea typeface="Arial"/>
                <a:cs typeface="Arial"/>
                <a:sym typeface="Arial"/>
              </a:rPr>
              <a:t> </a:t>
            </a:r>
            <a:r>
              <a:rPr lang="en-US" sz="1400">
                <a:solidFill>
                  <a:srgbClr val="0000FF"/>
                </a:solidFill>
                <a:latin typeface="Arial"/>
                <a:ea typeface="Arial"/>
                <a:cs typeface="Arial"/>
                <a:sym typeface="Arial"/>
              </a:rPr>
              <a:t>FROM</a:t>
            </a:r>
            <a:r>
              <a:rPr lang="en-US" sz="1400">
                <a:solidFill>
                  <a:srgbClr val="000000"/>
                </a:solidFill>
                <a:latin typeface="Arial"/>
                <a:ea typeface="Arial"/>
                <a:cs typeface="Arial"/>
                <a:sym typeface="Arial"/>
              </a:rPr>
              <a:t> SyncLog</a:t>
            </a:r>
            <a:r>
              <a:rPr lang="en-US" sz="1400">
                <a:solidFill>
                  <a:srgbClr val="808080"/>
                </a:solidFill>
                <a:latin typeface="Arial"/>
                <a:ea typeface="Arial"/>
                <a:cs typeface="Arial"/>
                <a:sym typeface="Arial"/>
              </a:rPr>
              <a:t>;</a:t>
            </a:r>
            <a:endParaRPr sz="1400">
              <a:solidFill>
                <a:srgbClr val="80808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f20ccbc9fc_3_160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Customer in Database</a:t>
            </a:r>
            <a:endParaRPr/>
          </a:p>
        </p:txBody>
      </p:sp>
      <p:sp>
        <p:nvSpPr>
          <p:cNvPr id="154" name="Google Shape;154;g3f20ccbc9fc_3_1605"/>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155" name="Google Shape;155;g3f20ccbc9fc_3_1605"/>
          <p:cNvPicPr preferRelativeResize="0"/>
          <p:nvPr/>
        </p:nvPicPr>
        <p:blipFill>
          <a:blip r:embed="rId3">
            <a:alphaModFix/>
          </a:blip>
          <a:stretch>
            <a:fillRect/>
          </a:stretch>
        </p:blipFill>
        <p:spPr>
          <a:xfrm>
            <a:off x="1128713" y="2309813"/>
            <a:ext cx="6886575" cy="2238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3f20ccbc9fc_3_161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61" name="Google Shape;161;g3f20ccbc9fc_3_161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162" name="Google Shape;162;g3f20ccbc9fc_3_1617"/>
          <p:cNvPicPr preferRelativeResize="0"/>
          <p:nvPr/>
        </p:nvPicPr>
        <p:blipFill>
          <a:blip r:embed="rId3">
            <a:alphaModFix/>
          </a:blip>
          <a:stretch>
            <a:fillRect/>
          </a:stretch>
        </p:blipFill>
        <p:spPr>
          <a:xfrm>
            <a:off x="209550" y="657225"/>
            <a:ext cx="8724900" cy="55435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f20ccbc9fc_3_159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Log in Database</a:t>
            </a:r>
            <a:endParaRPr/>
          </a:p>
        </p:txBody>
      </p:sp>
      <p:sp>
        <p:nvSpPr>
          <p:cNvPr id="168" name="Google Shape;168;g3f20ccbc9fc_3_1599"/>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169" name="Google Shape;169;g3f20ccbc9fc_3_1599"/>
          <p:cNvPicPr preferRelativeResize="0"/>
          <p:nvPr/>
        </p:nvPicPr>
        <p:blipFill>
          <a:blip r:embed="rId3">
            <a:alphaModFix/>
          </a:blip>
          <a:stretch>
            <a:fillRect/>
          </a:stretch>
        </p:blipFill>
        <p:spPr>
          <a:xfrm>
            <a:off x="2343150" y="2019300"/>
            <a:ext cx="4457700" cy="2819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f20ccbc9fc_3_161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Database helper function</a:t>
            </a:r>
            <a:endParaRPr/>
          </a:p>
        </p:txBody>
      </p:sp>
      <p:sp>
        <p:nvSpPr>
          <p:cNvPr id="175" name="Google Shape;175;g3f20ccbc9fc_3_161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176" name="Google Shape;176;g3f20ccbc9fc_3_1611"/>
          <p:cNvPicPr preferRelativeResize="0"/>
          <p:nvPr/>
        </p:nvPicPr>
        <p:blipFill>
          <a:blip r:embed="rId3">
            <a:alphaModFix/>
          </a:blip>
          <a:stretch>
            <a:fillRect/>
          </a:stretch>
        </p:blipFill>
        <p:spPr>
          <a:xfrm>
            <a:off x="0" y="1279478"/>
            <a:ext cx="9143999" cy="429904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f20ccbc9fc_3_1643"/>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182" name="Google Shape;182;g3f20ccbc9fc_3_1643"/>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183" name="Google Shape;183;g3f20ccbc9fc_3_1643"/>
          <p:cNvPicPr preferRelativeResize="0"/>
          <p:nvPr/>
        </p:nvPicPr>
        <p:blipFill>
          <a:blip r:embed="rId3">
            <a:alphaModFix/>
          </a:blip>
          <a:stretch>
            <a:fillRect/>
          </a:stretch>
        </p:blipFill>
        <p:spPr>
          <a:xfrm>
            <a:off x="0" y="49495"/>
            <a:ext cx="9144001" cy="675901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f20ccbc9fc_3_165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 code version 1.0  </a:t>
            </a:r>
            <a:r>
              <a:rPr b="0" lang="en-US" sz="1300" u="sng">
                <a:solidFill>
                  <a:schemeClr val="accent5"/>
                </a:solidFill>
                <a:latin typeface="Lato"/>
                <a:ea typeface="Lato"/>
                <a:cs typeface="Lato"/>
                <a:sym typeface="Lato"/>
                <a:hlinkClick r:id="rId3">
                  <a:extLst>
                    <a:ext uri="{A12FA001-AC4F-418D-AE19-62706E023703}">
                      <ahyp:hlinkClr val="tx"/>
                    </a:ext>
                  </a:extLst>
                </a:hlinkClick>
              </a:rPr>
              <a:t>Program.cs</a:t>
            </a:r>
            <a:r>
              <a:rPr b="0" lang="en-US" sz="1300">
                <a:solidFill>
                  <a:schemeClr val="accent1"/>
                </a:solidFill>
                <a:latin typeface="Lato"/>
                <a:ea typeface="Lato"/>
                <a:cs typeface="Lato"/>
                <a:sym typeface="Lato"/>
              </a:rPr>
              <a:t> </a:t>
            </a:r>
            <a:endParaRPr/>
          </a:p>
        </p:txBody>
      </p:sp>
      <p:sp>
        <p:nvSpPr>
          <p:cNvPr id="189" name="Google Shape;189;g3f20ccbc9fc_3_1650"/>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sz="1100"/>
          </a:p>
          <a:p>
            <a:pPr indent="0" lvl="0" marL="0" rtl="0" algn="l">
              <a:spcBef>
                <a:spcPts val="1200"/>
              </a:spcBef>
              <a:spcAft>
                <a:spcPts val="0"/>
              </a:spcAft>
              <a:buNone/>
            </a:pPr>
            <a:r>
              <a:t/>
            </a:r>
            <a:endParaRPr sz="1100"/>
          </a:p>
          <a:p>
            <a:pPr indent="0" lvl="0" marL="0" rtl="0" algn="l">
              <a:spcBef>
                <a:spcPts val="1200"/>
              </a:spcBef>
              <a:spcAft>
                <a:spcPts val="0"/>
              </a:spcAft>
              <a:buNone/>
            </a:pPr>
            <a:r>
              <a:rPr lang="en-US" sz="1100">
                <a:solidFill>
                  <a:srgbClr val="0000FF"/>
                </a:solidFill>
                <a:latin typeface="Arial"/>
                <a:ea typeface="Arial"/>
                <a:cs typeface="Arial"/>
                <a:sym typeface="Arial"/>
              </a:rPr>
              <a:t>var</a:t>
            </a:r>
            <a:r>
              <a:rPr lang="en-US" sz="1100">
                <a:solidFill>
                  <a:srgbClr val="000000"/>
                </a:solidFill>
                <a:latin typeface="Arial"/>
                <a:ea typeface="Arial"/>
                <a:cs typeface="Arial"/>
                <a:sym typeface="Arial"/>
              </a:rPr>
              <a:t> </a:t>
            </a:r>
            <a:r>
              <a:rPr lang="en-US" sz="1100">
                <a:solidFill>
                  <a:srgbClr val="1F377F"/>
                </a:solidFill>
                <a:latin typeface="Arial"/>
                <a:ea typeface="Arial"/>
                <a:cs typeface="Arial"/>
                <a:sym typeface="Arial"/>
              </a:rPr>
              <a:t>builder</a:t>
            </a:r>
            <a:r>
              <a:rPr lang="en-US" sz="1100">
                <a:solidFill>
                  <a:srgbClr val="000000"/>
                </a:solidFill>
                <a:latin typeface="Arial"/>
                <a:ea typeface="Arial"/>
                <a:cs typeface="Arial"/>
                <a:sym typeface="Arial"/>
              </a:rPr>
              <a:t> = </a:t>
            </a:r>
            <a:r>
              <a:rPr lang="en-US" sz="1100">
                <a:solidFill>
                  <a:srgbClr val="2B91AF"/>
                </a:solidFill>
                <a:latin typeface="Arial"/>
                <a:ea typeface="Arial"/>
                <a:cs typeface="Arial"/>
                <a:sym typeface="Arial"/>
              </a:rPr>
              <a:t>WebApplication</a:t>
            </a:r>
            <a:r>
              <a:rPr lang="en-US" sz="1100">
                <a:solidFill>
                  <a:srgbClr val="000000"/>
                </a:solidFill>
                <a:latin typeface="Arial"/>
                <a:ea typeface="Arial"/>
                <a:cs typeface="Arial"/>
                <a:sym typeface="Arial"/>
              </a:rPr>
              <a:t>.</a:t>
            </a:r>
            <a:r>
              <a:rPr lang="en-US" sz="1100">
                <a:solidFill>
                  <a:srgbClr val="74531F"/>
                </a:solidFill>
                <a:latin typeface="Arial"/>
                <a:ea typeface="Arial"/>
                <a:cs typeface="Arial"/>
                <a:sym typeface="Arial"/>
              </a:rPr>
              <a:t>CreateBuilder</a:t>
            </a:r>
            <a:r>
              <a:rPr lang="en-US" sz="1100">
                <a:solidFill>
                  <a:srgbClr val="1A94FF"/>
                </a:solidFill>
                <a:latin typeface="Arial"/>
                <a:ea typeface="Arial"/>
                <a:cs typeface="Arial"/>
                <a:sym typeface="Arial"/>
              </a:rPr>
              <a:t>(</a:t>
            </a:r>
            <a:r>
              <a:rPr lang="en-US" sz="1100">
                <a:solidFill>
                  <a:srgbClr val="0000FF"/>
                </a:solidFill>
                <a:latin typeface="Arial"/>
                <a:ea typeface="Arial"/>
                <a:cs typeface="Arial"/>
                <a:sym typeface="Arial"/>
              </a:rPr>
              <a:t>args</a:t>
            </a:r>
            <a:r>
              <a:rPr lang="en-US" sz="1100">
                <a:solidFill>
                  <a:srgbClr val="1A94FF"/>
                </a:solidFill>
                <a:latin typeface="Arial"/>
                <a:ea typeface="Arial"/>
                <a:cs typeface="Arial"/>
                <a:sym typeface="Arial"/>
              </a:rPr>
              <a:t>)</a:t>
            </a: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8000"/>
                </a:solidFill>
                <a:latin typeface="Arial"/>
                <a:ea typeface="Arial"/>
                <a:cs typeface="Arial"/>
                <a:sym typeface="Arial"/>
              </a:rPr>
              <a:t>// Add services to the container.</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1F377F"/>
                </a:solidFill>
                <a:latin typeface="Arial"/>
                <a:ea typeface="Arial"/>
                <a:cs typeface="Arial"/>
                <a:sym typeface="Arial"/>
              </a:rPr>
              <a:t>builder</a:t>
            </a:r>
            <a:r>
              <a:rPr lang="en-US" sz="1100">
                <a:solidFill>
                  <a:srgbClr val="000000"/>
                </a:solidFill>
                <a:latin typeface="Arial"/>
                <a:ea typeface="Arial"/>
                <a:cs typeface="Arial"/>
                <a:sym typeface="Arial"/>
              </a:rPr>
              <a:t>.Services.</a:t>
            </a:r>
            <a:r>
              <a:rPr lang="en-US" sz="1100">
                <a:solidFill>
                  <a:srgbClr val="74531F"/>
                </a:solidFill>
                <a:latin typeface="Arial"/>
                <a:ea typeface="Arial"/>
                <a:cs typeface="Arial"/>
                <a:sym typeface="Arial"/>
              </a:rPr>
              <a:t>AddControllers</a:t>
            </a:r>
            <a:r>
              <a:rPr lang="en-US" sz="1100">
                <a:solidFill>
                  <a:srgbClr val="1A94FF"/>
                </a:solidFill>
                <a:latin typeface="Arial"/>
                <a:ea typeface="Arial"/>
                <a:cs typeface="Arial"/>
                <a:sym typeface="Arial"/>
              </a:rPr>
              <a:t>()</a:t>
            </a: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1F377F"/>
                </a:solidFill>
                <a:latin typeface="Arial"/>
                <a:ea typeface="Arial"/>
                <a:cs typeface="Arial"/>
                <a:sym typeface="Arial"/>
              </a:rPr>
              <a:t>builder</a:t>
            </a:r>
            <a:r>
              <a:rPr lang="en-US" sz="1100">
                <a:solidFill>
                  <a:srgbClr val="000000"/>
                </a:solidFill>
                <a:latin typeface="Arial"/>
                <a:ea typeface="Arial"/>
                <a:cs typeface="Arial"/>
                <a:sym typeface="Arial"/>
              </a:rPr>
              <a:t>.Services.</a:t>
            </a:r>
            <a:r>
              <a:rPr lang="en-US" sz="1100">
                <a:solidFill>
                  <a:srgbClr val="74531F"/>
                </a:solidFill>
                <a:latin typeface="Arial"/>
                <a:ea typeface="Arial"/>
                <a:cs typeface="Arial"/>
                <a:sym typeface="Arial"/>
              </a:rPr>
              <a:t>AddEndpointsApiExplorer</a:t>
            </a:r>
            <a:r>
              <a:rPr lang="en-US" sz="1100">
                <a:solidFill>
                  <a:srgbClr val="1A94FF"/>
                </a:solidFill>
                <a:latin typeface="Arial"/>
                <a:ea typeface="Arial"/>
                <a:cs typeface="Arial"/>
                <a:sym typeface="Arial"/>
              </a:rPr>
              <a:t>()</a:t>
            </a: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1F377F"/>
                </a:solidFill>
                <a:latin typeface="Arial"/>
                <a:ea typeface="Arial"/>
                <a:cs typeface="Arial"/>
                <a:sym typeface="Arial"/>
              </a:rPr>
              <a:t>builder</a:t>
            </a:r>
            <a:r>
              <a:rPr lang="en-US" sz="1100">
                <a:solidFill>
                  <a:srgbClr val="000000"/>
                </a:solidFill>
                <a:latin typeface="Arial"/>
                <a:ea typeface="Arial"/>
                <a:cs typeface="Arial"/>
                <a:sym typeface="Arial"/>
              </a:rPr>
              <a:t>.Services.</a:t>
            </a:r>
            <a:r>
              <a:rPr lang="en-US" sz="1100">
                <a:solidFill>
                  <a:srgbClr val="74531F"/>
                </a:solidFill>
                <a:latin typeface="Arial"/>
                <a:ea typeface="Arial"/>
                <a:cs typeface="Arial"/>
                <a:sym typeface="Arial"/>
              </a:rPr>
              <a:t>AddSwaggerGen</a:t>
            </a:r>
            <a:r>
              <a:rPr lang="en-US" sz="1100">
                <a:solidFill>
                  <a:srgbClr val="1A94FF"/>
                </a:solidFill>
                <a:latin typeface="Arial"/>
                <a:ea typeface="Arial"/>
                <a:cs typeface="Arial"/>
                <a:sym typeface="Arial"/>
              </a:rPr>
              <a:t>()</a:t>
            </a: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FF"/>
                </a:solidFill>
                <a:latin typeface="Arial"/>
                <a:ea typeface="Arial"/>
                <a:cs typeface="Arial"/>
                <a:sym typeface="Arial"/>
              </a:rPr>
              <a:t>var</a:t>
            </a:r>
            <a:r>
              <a:rPr lang="en-US" sz="1100">
                <a:solidFill>
                  <a:srgbClr val="000000"/>
                </a:solidFill>
                <a:latin typeface="Arial"/>
                <a:ea typeface="Arial"/>
                <a:cs typeface="Arial"/>
                <a:sym typeface="Arial"/>
              </a:rPr>
              <a:t> </a:t>
            </a:r>
            <a:r>
              <a:rPr lang="en-US" sz="1100">
                <a:solidFill>
                  <a:srgbClr val="1F377F"/>
                </a:solidFill>
                <a:latin typeface="Arial"/>
                <a:ea typeface="Arial"/>
                <a:cs typeface="Arial"/>
                <a:sym typeface="Arial"/>
              </a:rPr>
              <a:t>app</a:t>
            </a:r>
            <a:r>
              <a:rPr lang="en-US" sz="1100">
                <a:solidFill>
                  <a:srgbClr val="000000"/>
                </a:solidFill>
                <a:latin typeface="Arial"/>
                <a:ea typeface="Arial"/>
                <a:cs typeface="Arial"/>
                <a:sym typeface="Arial"/>
              </a:rPr>
              <a:t> = </a:t>
            </a:r>
            <a:r>
              <a:rPr lang="en-US" sz="1100">
                <a:solidFill>
                  <a:srgbClr val="1F377F"/>
                </a:solidFill>
                <a:latin typeface="Arial"/>
                <a:ea typeface="Arial"/>
                <a:cs typeface="Arial"/>
                <a:sym typeface="Arial"/>
              </a:rPr>
              <a:t>builder</a:t>
            </a:r>
            <a:r>
              <a:rPr lang="en-US" sz="1100">
                <a:solidFill>
                  <a:srgbClr val="000000"/>
                </a:solidFill>
                <a:latin typeface="Arial"/>
                <a:ea typeface="Arial"/>
                <a:cs typeface="Arial"/>
                <a:sym typeface="Arial"/>
              </a:rPr>
              <a:t>.</a:t>
            </a:r>
            <a:r>
              <a:rPr lang="en-US" sz="1100">
                <a:solidFill>
                  <a:srgbClr val="74531F"/>
                </a:solidFill>
                <a:latin typeface="Arial"/>
                <a:ea typeface="Arial"/>
                <a:cs typeface="Arial"/>
                <a:sym typeface="Arial"/>
              </a:rPr>
              <a:t>Build</a:t>
            </a:r>
            <a:r>
              <a:rPr lang="en-US" sz="1100">
                <a:solidFill>
                  <a:srgbClr val="1A94FF"/>
                </a:solidFill>
                <a:latin typeface="Arial"/>
                <a:ea typeface="Arial"/>
                <a:cs typeface="Arial"/>
                <a:sym typeface="Arial"/>
              </a:rPr>
              <a:t>()</a:t>
            </a: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8000"/>
                </a:solidFill>
                <a:latin typeface="Arial"/>
                <a:ea typeface="Arial"/>
                <a:cs typeface="Arial"/>
                <a:sym typeface="Arial"/>
              </a:rPr>
              <a:t>// Configure the HTTP request pipeline.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8F08C4"/>
                </a:solidFill>
                <a:latin typeface="Arial"/>
                <a:ea typeface="Arial"/>
                <a:cs typeface="Arial"/>
                <a:sym typeface="Arial"/>
              </a:rPr>
              <a:t>if</a:t>
            </a:r>
            <a:r>
              <a:rPr lang="en-US" sz="1100">
                <a:solidFill>
                  <a:srgbClr val="000000"/>
                </a:solidFill>
                <a:latin typeface="Arial"/>
                <a:ea typeface="Arial"/>
                <a:cs typeface="Arial"/>
                <a:sym typeface="Arial"/>
              </a:rPr>
              <a:t> </a:t>
            </a:r>
            <a:r>
              <a:rPr lang="en-US" sz="1100">
                <a:solidFill>
                  <a:srgbClr val="1A94FF"/>
                </a:solidFill>
                <a:latin typeface="Arial"/>
                <a:ea typeface="Arial"/>
                <a:cs typeface="Arial"/>
                <a:sym typeface="Arial"/>
              </a:rPr>
              <a:t>(</a:t>
            </a:r>
            <a:r>
              <a:rPr lang="en-US" sz="1100">
                <a:solidFill>
                  <a:srgbClr val="1F377F"/>
                </a:solidFill>
                <a:latin typeface="Arial"/>
                <a:ea typeface="Arial"/>
                <a:cs typeface="Arial"/>
                <a:sym typeface="Arial"/>
              </a:rPr>
              <a:t>app</a:t>
            </a:r>
            <a:r>
              <a:rPr lang="en-US" sz="1100">
                <a:solidFill>
                  <a:srgbClr val="000000"/>
                </a:solidFill>
                <a:latin typeface="Arial"/>
                <a:ea typeface="Arial"/>
                <a:cs typeface="Arial"/>
                <a:sym typeface="Arial"/>
              </a:rPr>
              <a:t>.Environment.</a:t>
            </a:r>
            <a:r>
              <a:rPr lang="en-US" sz="1100">
                <a:solidFill>
                  <a:srgbClr val="74531F"/>
                </a:solidFill>
                <a:latin typeface="Arial"/>
                <a:ea typeface="Arial"/>
                <a:cs typeface="Arial"/>
                <a:sym typeface="Arial"/>
              </a:rPr>
              <a:t>IsDevelopment</a:t>
            </a:r>
            <a:r>
              <a:rPr lang="en-US" sz="1100">
                <a:solidFill>
                  <a:srgbClr val="FFD702"/>
                </a:solidFill>
                <a:latin typeface="Arial"/>
                <a:ea typeface="Arial"/>
                <a:cs typeface="Arial"/>
                <a:sym typeface="Arial"/>
              </a:rPr>
              <a:t>()</a:t>
            </a:r>
            <a:r>
              <a:rPr lang="en-US" sz="1100">
                <a:solidFill>
                  <a:srgbClr val="1A94FF"/>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1A94FF"/>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a:t>
            </a:r>
            <a:r>
              <a:rPr lang="en-US" sz="1100">
                <a:solidFill>
                  <a:srgbClr val="1F377F"/>
                </a:solidFill>
                <a:latin typeface="Arial"/>
                <a:ea typeface="Arial"/>
                <a:cs typeface="Arial"/>
                <a:sym typeface="Arial"/>
              </a:rPr>
              <a:t>app</a:t>
            </a:r>
            <a:r>
              <a:rPr lang="en-US" sz="1100">
                <a:solidFill>
                  <a:srgbClr val="000000"/>
                </a:solidFill>
                <a:latin typeface="Arial"/>
                <a:ea typeface="Arial"/>
                <a:cs typeface="Arial"/>
                <a:sym typeface="Arial"/>
              </a:rPr>
              <a:t>.</a:t>
            </a:r>
            <a:r>
              <a:rPr lang="en-US" sz="1100">
                <a:solidFill>
                  <a:srgbClr val="74531F"/>
                </a:solidFill>
                <a:latin typeface="Arial"/>
                <a:ea typeface="Arial"/>
                <a:cs typeface="Arial"/>
                <a:sym typeface="Arial"/>
              </a:rPr>
              <a:t>UseSwagger</a:t>
            </a:r>
            <a:r>
              <a:rPr lang="en-US" sz="1100">
                <a:solidFill>
                  <a:srgbClr val="FFD702"/>
                </a:solidFill>
                <a:latin typeface="Arial"/>
                <a:ea typeface="Arial"/>
                <a:cs typeface="Arial"/>
                <a:sym typeface="Arial"/>
              </a:rPr>
              <a:t>()</a:t>
            </a: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a:t>
            </a:r>
            <a:r>
              <a:rPr lang="en-US" sz="1100">
                <a:solidFill>
                  <a:srgbClr val="1F377F"/>
                </a:solidFill>
                <a:latin typeface="Arial"/>
                <a:ea typeface="Arial"/>
                <a:cs typeface="Arial"/>
                <a:sym typeface="Arial"/>
              </a:rPr>
              <a:t>app</a:t>
            </a:r>
            <a:r>
              <a:rPr lang="en-US" sz="1100">
                <a:solidFill>
                  <a:srgbClr val="000000"/>
                </a:solidFill>
                <a:latin typeface="Arial"/>
                <a:ea typeface="Arial"/>
                <a:cs typeface="Arial"/>
                <a:sym typeface="Arial"/>
              </a:rPr>
              <a:t>.</a:t>
            </a:r>
            <a:r>
              <a:rPr lang="en-US" sz="1100">
                <a:solidFill>
                  <a:srgbClr val="74531F"/>
                </a:solidFill>
                <a:latin typeface="Arial"/>
                <a:ea typeface="Arial"/>
                <a:cs typeface="Arial"/>
                <a:sym typeface="Arial"/>
              </a:rPr>
              <a:t>UseSwaggerUI</a:t>
            </a:r>
            <a:r>
              <a:rPr lang="en-US" sz="1100">
                <a:solidFill>
                  <a:srgbClr val="FFD702"/>
                </a:solidFill>
                <a:latin typeface="Arial"/>
                <a:ea typeface="Arial"/>
                <a:cs typeface="Arial"/>
                <a:sym typeface="Arial"/>
              </a:rPr>
              <a:t>()</a:t>
            </a: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1A94FF"/>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1F377F"/>
                </a:solidFill>
                <a:latin typeface="Arial"/>
                <a:ea typeface="Arial"/>
                <a:cs typeface="Arial"/>
                <a:sym typeface="Arial"/>
              </a:rPr>
              <a:t>app</a:t>
            </a:r>
            <a:r>
              <a:rPr lang="en-US" sz="1100">
                <a:solidFill>
                  <a:srgbClr val="000000"/>
                </a:solidFill>
                <a:latin typeface="Arial"/>
                <a:ea typeface="Arial"/>
                <a:cs typeface="Arial"/>
                <a:sym typeface="Arial"/>
              </a:rPr>
              <a:t>.</a:t>
            </a:r>
            <a:r>
              <a:rPr lang="en-US" sz="1100">
                <a:solidFill>
                  <a:srgbClr val="74531F"/>
                </a:solidFill>
                <a:latin typeface="Arial"/>
                <a:ea typeface="Arial"/>
                <a:cs typeface="Arial"/>
                <a:sym typeface="Arial"/>
              </a:rPr>
              <a:t>MapGet</a:t>
            </a:r>
            <a:r>
              <a:rPr lang="en-US" sz="1100">
                <a:solidFill>
                  <a:srgbClr val="1A94FF"/>
                </a:solidFill>
                <a:latin typeface="Arial"/>
                <a:ea typeface="Arial"/>
                <a:cs typeface="Arial"/>
                <a:sym typeface="Arial"/>
              </a:rPr>
              <a:t>(</a:t>
            </a:r>
            <a:r>
              <a:rPr lang="en-US" sz="1100">
                <a:solidFill>
                  <a:srgbClr val="A31515"/>
                </a:solidFill>
                <a:latin typeface="Arial"/>
                <a:ea typeface="Arial"/>
                <a:cs typeface="Arial"/>
                <a:sym typeface="Arial"/>
              </a:rPr>
              <a:t>"/"</a:t>
            </a:r>
            <a:r>
              <a:rPr lang="en-US" sz="1100">
                <a:solidFill>
                  <a:srgbClr val="000000"/>
                </a:solidFill>
                <a:latin typeface="Arial"/>
                <a:ea typeface="Arial"/>
                <a:cs typeface="Arial"/>
                <a:sym typeface="Arial"/>
              </a:rPr>
              <a:t>, </a:t>
            </a:r>
            <a:r>
              <a:rPr lang="en-US" sz="1100">
                <a:solidFill>
                  <a:srgbClr val="FFD702"/>
                </a:solidFill>
                <a:latin typeface="Arial"/>
                <a:ea typeface="Arial"/>
                <a:cs typeface="Arial"/>
                <a:sym typeface="Arial"/>
              </a:rPr>
              <a:t>()</a:t>
            </a:r>
            <a:r>
              <a:rPr lang="en-US" sz="1100">
                <a:solidFill>
                  <a:srgbClr val="000000"/>
                </a:solidFill>
                <a:latin typeface="Arial"/>
                <a:ea typeface="Arial"/>
                <a:cs typeface="Arial"/>
                <a:sym typeface="Arial"/>
              </a:rPr>
              <a:t> =&gt; </a:t>
            </a:r>
            <a:r>
              <a:rPr lang="en-US" sz="1100">
                <a:solidFill>
                  <a:srgbClr val="A31515"/>
                </a:solidFill>
                <a:latin typeface="Arial"/>
                <a:ea typeface="Arial"/>
                <a:cs typeface="Arial"/>
                <a:sym typeface="Arial"/>
              </a:rPr>
              <a:t>"Demo ERP API is running!"</a:t>
            </a:r>
            <a:r>
              <a:rPr lang="en-US" sz="1100">
                <a:solidFill>
                  <a:srgbClr val="1A94FF"/>
                </a:solidFill>
                <a:latin typeface="Arial"/>
                <a:ea typeface="Arial"/>
                <a:cs typeface="Arial"/>
                <a:sym typeface="Arial"/>
              </a:rPr>
              <a:t>)</a:t>
            </a: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1F377F"/>
                </a:solidFill>
                <a:latin typeface="Arial"/>
                <a:ea typeface="Arial"/>
                <a:cs typeface="Arial"/>
                <a:sym typeface="Arial"/>
              </a:rPr>
              <a:t>app</a:t>
            </a:r>
            <a:r>
              <a:rPr lang="en-US" sz="1100">
                <a:solidFill>
                  <a:srgbClr val="000000"/>
                </a:solidFill>
                <a:latin typeface="Arial"/>
                <a:ea typeface="Arial"/>
                <a:cs typeface="Arial"/>
                <a:sym typeface="Arial"/>
              </a:rPr>
              <a:t>.</a:t>
            </a:r>
            <a:r>
              <a:rPr lang="en-US" sz="1100">
                <a:solidFill>
                  <a:srgbClr val="74531F"/>
                </a:solidFill>
                <a:latin typeface="Arial"/>
                <a:ea typeface="Arial"/>
                <a:cs typeface="Arial"/>
                <a:sym typeface="Arial"/>
              </a:rPr>
              <a:t>UseHttpsRedirection</a:t>
            </a:r>
            <a:r>
              <a:rPr lang="en-US" sz="1100">
                <a:solidFill>
                  <a:srgbClr val="1A94FF"/>
                </a:solidFill>
                <a:latin typeface="Arial"/>
                <a:ea typeface="Arial"/>
                <a:cs typeface="Arial"/>
                <a:sym typeface="Arial"/>
              </a:rPr>
              <a:t>()</a:t>
            </a: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1F377F"/>
                </a:solidFill>
                <a:latin typeface="Arial"/>
                <a:ea typeface="Arial"/>
                <a:cs typeface="Arial"/>
                <a:sym typeface="Arial"/>
              </a:rPr>
              <a:t>app</a:t>
            </a:r>
            <a:r>
              <a:rPr lang="en-US" sz="1100">
                <a:solidFill>
                  <a:srgbClr val="000000"/>
                </a:solidFill>
                <a:latin typeface="Arial"/>
                <a:ea typeface="Arial"/>
                <a:cs typeface="Arial"/>
                <a:sym typeface="Arial"/>
              </a:rPr>
              <a:t>.</a:t>
            </a:r>
            <a:r>
              <a:rPr lang="en-US" sz="1100">
                <a:solidFill>
                  <a:srgbClr val="74531F"/>
                </a:solidFill>
                <a:latin typeface="Arial"/>
                <a:ea typeface="Arial"/>
                <a:cs typeface="Arial"/>
                <a:sym typeface="Arial"/>
              </a:rPr>
              <a:t>MapControllers</a:t>
            </a:r>
            <a:r>
              <a:rPr lang="en-US" sz="1100">
                <a:solidFill>
                  <a:srgbClr val="1A94FF"/>
                </a:solidFill>
                <a:latin typeface="Arial"/>
                <a:ea typeface="Arial"/>
                <a:cs typeface="Arial"/>
                <a:sym typeface="Arial"/>
              </a:rPr>
              <a:t>()</a:t>
            </a: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1F377F"/>
                </a:solidFill>
                <a:latin typeface="Arial"/>
                <a:ea typeface="Arial"/>
                <a:cs typeface="Arial"/>
                <a:sym typeface="Arial"/>
              </a:rPr>
              <a:t>app</a:t>
            </a:r>
            <a:r>
              <a:rPr lang="en-US" sz="1100">
                <a:solidFill>
                  <a:srgbClr val="000000"/>
                </a:solidFill>
                <a:latin typeface="Arial"/>
                <a:ea typeface="Arial"/>
                <a:cs typeface="Arial"/>
                <a:sym typeface="Arial"/>
              </a:rPr>
              <a:t>.</a:t>
            </a:r>
            <a:r>
              <a:rPr lang="en-US" sz="1100">
                <a:solidFill>
                  <a:srgbClr val="74531F"/>
                </a:solidFill>
                <a:latin typeface="Arial"/>
                <a:ea typeface="Arial"/>
                <a:cs typeface="Arial"/>
                <a:sym typeface="Arial"/>
              </a:rPr>
              <a:t>Run</a:t>
            </a:r>
            <a:r>
              <a:rPr lang="en-US" sz="1100">
                <a:solidFill>
                  <a:srgbClr val="1A94FF"/>
                </a:solidFill>
                <a:latin typeface="Arial"/>
                <a:ea typeface="Arial"/>
                <a:cs typeface="Arial"/>
                <a:sym typeface="Arial"/>
              </a:rPr>
              <a:t>()</a:t>
            </a: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sz="1100"/>
          </a:p>
        </p:txBody>
      </p:sp>
      <p:sp>
        <p:nvSpPr>
          <p:cNvPr id="190" name="Google Shape;190;g3f20ccbc9fc_3_1650"/>
          <p:cNvSpPr txBox="1"/>
          <p:nvPr/>
        </p:nvSpPr>
        <p:spPr>
          <a:xfrm>
            <a:off x="0" y="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60"/>
              </a:spcBef>
              <a:spcAft>
                <a:spcPts val="1200"/>
              </a:spcAft>
              <a:buNone/>
            </a:pPr>
            <a:r>
              <a:rPr lang="en-US" sz="1300" u="sng">
                <a:solidFill>
                  <a:schemeClr val="accent5"/>
                </a:solidFill>
                <a:latin typeface="Lato"/>
                <a:ea typeface="Lato"/>
                <a:cs typeface="Lato"/>
                <a:sym typeface="Lato"/>
                <a:hlinkClick r:id="rId4">
                  <a:extLst>
                    <a:ext uri="{A12FA001-AC4F-418D-AE19-62706E023703}">
                      <ahyp:hlinkClr val="tx"/>
                    </a:ext>
                  </a:extLst>
                </a:hlinkClick>
              </a:rPr>
              <a:t>Program.cs</a:t>
            </a:r>
            <a:r>
              <a:rPr lang="en-US" sz="1300">
                <a:solidFill>
                  <a:schemeClr val="accent1"/>
                </a:solidFill>
                <a:latin typeface="Lato"/>
                <a:ea typeface="Lato"/>
                <a:cs typeface="Lato"/>
                <a:sym typeface="Lato"/>
              </a:rPr>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3f20ccbc9fc_3_165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 code </a:t>
            </a:r>
            <a:r>
              <a:rPr b="0" lang="en-US" sz="1300">
                <a:latin typeface="Lato"/>
                <a:ea typeface="Lato"/>
                <a:cs typeface="Lato"/>
                <a:sym typeface="Lato"/>
              </a:rPr>
              <a:t>appsettings.json</a:t>
            </a:r>
            <a:endParaRPr/>
          </a:p>
        </p:txBody>
      </p:sp>
      <p:sp>
        <p:nvSpPr>
          <p:cNvPr id="196" name="Google Shape;196;g3f20ccbc9fc_3_1659"/>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2E75B6"/>
                </a:solidFill>
                <a:latin typeface="Arial"/>
                <a:ea typeface="Arial"/>
                <a:cs typeface="Arial"/>
                <a:sym typeface="Arial"/>
              </a:rPr>
              <a:t>"Logging"</a:t>
            </a:r>
            <a:r>
              <a:rPr lang="en-US" sz="900">
                <a:solidFill>
                  <a:srgbClr val="000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2E75B6"/>
                </a:solidFill>
                <a:latin typeface="Arial"/>
                <a:ea typeface="Arial"/>
                <a:cs typeface="Arial"/>
                <a:sym typeface="Arial"/>
              </a:rPr>
              <a:t>"LogLevel"</a:t>
            </a:r>
            <a:r>
              <a:rPr lang="en-US" sz="900">
                <a:solidFill>
                  <a:srgbClr val="000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2E75B6"/>
                </a:solidFill>
                <a:latin typeface="Arial"/>
                <a:ea typeface="Arial"/>
                <a:cs typeface="Arial"/>
                <a:sym typeface="Arial"/>
              </a:rPr>
              <a:t>"Default"</a:t>
            </a:r>
            <a:r>
              <a:rPr lang="en-US" sz="900">
                <a:solidFill>
                  <a:srgbClr val="000000"/>
                </a:solidFill>
                <a:latin typeface="Arial"/>
                <a:ea typeface="Arial"/>
                <a:cs typeface="Arial"/>
                <a:sym typeface="Arial"/>
              </a:rPr>
              <a:t>: </a:t>
            </a:r>
            <a:r>
              <a:rPr lang="en-US" sz="900">
                <a:solidFill>
                  <a:srgbClr val="A31515"/>
                </a:solidFill>
                <a:latin typeface="Arial"/>
                <a:ea typeface="Arial"/>
                <a:cs typeface="Arial"/>
                <a:sym typeface="Arial"/>
              </a:rPr>
              <a:t>"Information"</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2E75B6"/>
                </a:solidFill>
                <a:latin typeface="Arial"/>
                <a:ea typeface="Arial"/>
                <a:cs typeface="Arial"/>
                <a:sym typeface="Arial"/>
              </a:rPr>
              <a:t>"Microsoft.AspNetCore"</a:t>
            </a:r>
            <a:r>
              <a:rPr lang="en-US" sz="900">
                <a:solidFill>
                  <a:srgbClr val="000000"/>
                </a:solidFill>
                <a:latin typeface="Arial"/>
                <a:ea typeface="Arial"/>
                <a:cs typeface="Arial"/>
                <a:sym typeface="Arial"/>
              </a:rPr>
              <a:t>: </a:t>
            </a:r>
            <a:r>
              <a:rPr lang="en-US" sz="900">
                <a:solidFill>
                  <a:srgbClr val="A31515"/>
                </a:solidFill>
                <a:latin typeface="Arial"/>
                <a:ea typeface="Arial"/>
                <a:cs typeface="Arial"/>
                <a:sym typeface="Arial"/>
              </a:rPr>
              <a:t>"Warning"</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2E75B6"/>
                </a:solidFill>
                <a:latin typeface="Arial"/>
                <a:ea typeface="Arial"/>
                <a:cs typeface="Arial"/>
                <a:sym typeface="Arial"/>
              </a:rPr>
              <a:t>"AllowedHosts"</a:t>
            </a:r>
            <a:r>
              <a:rPr lang="en-US" sz="900">
                <a:solidFill>
                  <a:srgbClr val="000000"/>
                </a:solidFill>
                <a:latin typeface="Arial"/>
                <a:ea typeface="Arial"/>
                <a:cs typeface="Arial"/>
                <a:sym typeface="Arial"/>
              </a:rPr>
              <a:t>: </a:t>
            </a:r>
            <a:r>
              <a:rPr lang="en-US" sz="900">
                <a:solidFill>
                  <a:srgbClr val="A31515"/>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2E75B6"/>
                </a:solidFill>
                <a:latin typeface="Arial"/>
                <a:ea typeface="Arial"/>
                <a:cs typeface="Arial"/>
                <a:sym typeface="Arial"/>
              </a:rPr>
              <a:t>"ConnectionStrings"</a:t>
            </a:r>
            <a:r>
              <a:rPr lang="en-US" sz="900">
                <a:solidFill>
                  <a:srgbClr val="000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2E75B6"/>
                </a:solidFill>
                <a:latin typeface="Arial"/>
                <a:ea typeface="Arial"/>
                <a:cs typeface="Arial"/>
                <a:sym typeface="Arial"/>
              </a:rPr>
              <a:t>"DemoERPConnection"</a:t>
            </a:r>
            <a:r>
              <a:rPr lang="en-US" sz="900">
                <a:solidFill>
                  <a:srgbClr val="000000"/>
                </a:solidFill>
                <a:latin typeface="Arial"/>
                <a:ea typeface="Arial"/>
                <a:cs typeface="Arial"/>
                <a:sym typeface="Arial"/>
              </a:rPr>
              <a:t>: </a:t>
            </a:r>
            <a:r>
              <a:rPr lang="en-US" sz="900">
                <a:solidFill>
                  <a:srgbClr val="A31515"/>
                </a:solidFill>
                <a:latin typeface="Arial"/>
                <a:ea typeface="Arial"/>
                <a:cs typeface="Arial"/>
                <a:sym typeface="Arial"/>
              </a:rPr>
              <a:t>"Server=localhost\\SQLEXPRESS;Database=DemoERP;Trusted_Connection=True;TrustServerCertificate=True"</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1200"/>
              </a:spcAft>
              <a:buNone/>
            </a:pPr>
            <a:r>
              <a:t/>
            </a:r>
            <a:endParaRPr sz="1100"/>
          </a:p>
        </p:txBody>
      </p:sp>
      <p:sp>
        <p:nvSpPr>
          <p:cNvPr id="197" name="Google Shape;197;g3f20ccbc9fc_3_1659"/>
          <p:cNvSpPr txBox="1"/>
          <p:nvPr/>
        </p:nvSpPr>
        <p:spPr>
          <a:xfrm>
            <a:off x="0" y="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60"/>
              </a:spcBef>
              <a:spcAft>
                <a:spcPts val="1200"/>
              </a:spcAft>
              <a:buNone/>
            </a:pPr>
            <a:r>
              <a:rPr lang="en-US" sz="1300" u="sng">
                <a:solidFill>
                  <a:schemeClr val="accent5"/>
                </a:solidFill>
                <a:latin typeface="Lato"/>
                <a:ea typeface="Lato"/>
                <a:cs typeface="Lato"/>
                <a:sym typeface="Lato"/>
                <a:hlinkClick r:id="rId3">
                  <a:extLst>
                    <a:ext uri="{A12FA001-AC4F-418D-AE19-62706E023703}">
                      <ahyp:hlinkClr val="tx"/>
                    </a:ext>
                  </a:extLst>
                </a:hlinkClick>
              </a:rPr>
              <a:t>Program.cs</a:t>
            </a:r>
            <a:r>
              <a:rPr lang="en-US" sz="1300">
                <a:solidFill>
                  <a:schemeClr val="accent1"/>
                </a:solidFill>
                <a:latin typeface="Lato"/>
                <a:ea typeface="Lato"/>
                <a:cs typeface="Lato"/>
                <a:sym typeface="Lato"/>
              </a:rP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f20ccbc9fc_3_166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 code </a:t>
            </a:r>
            <a:r>
              <a:rPr b="0" lang="en-US" sz="1300">
                <a:latin typeface="Lato"/>
                <a:ea typeface="Lato"/>
                <a:cs typeface="Lato"/>
                <a:sym typeface="Lato"/>
              </a:rPr>
              <a:t>models/CustomerDto.cs</a:t>
            </a:r>
            <a:endParaRPr/>
          </a:p>
        </p:txBody>
      </p:sp>
      <p:sp>
        <p:nvSpPr>
          <p:cNvPr id="203" name="Google Shape;203;g3f20ccbc9fc_3_1667"/>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sz="900">
                <a:solidFill>
                  <a:srgbClr val="0000FF"/>
                </a:solidFill>
                <a:latin typeface="Arial"/>
                <a:ea typeface="Arial"/>
                <a:cs typeface="Arial"/>
                <a:sym typeface="Arial"/>
              </a:rPr>
              <a:t>namespace</a:t>
            </a:r>
            <a:r>
              <a:rPr lang="en-US" sz="900">
                <a:solidFill>
                  <a:srgbClr val="000000"/>
                </a:solidFill>
                <a:latin typeface="Arial"/>
                <a:ea typeface="Arial"/>
                <a:cs typeface="Arial"/>
                <a:sym typeface="Arial"/>
              </a:rPr>
              <a:t> DemoERPApi.Models;</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FF"/>
                </a:solidFill>
                <a:latin typeface="Arial"/>
                <a:ea typeface="Arial"/>
                <a:cs typeface="Arial"/>
                <a:sym typeface="Arial"/>
              </a:rPr>
              <a:t>public</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class</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CustomerDto</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1A94FF"/>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public</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 CustomerId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get</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set</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.Empty;</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public</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 FirstName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get</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set</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.Empty;</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public</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 LastName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get</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set</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.Empty;</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public</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 Email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get</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set</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.Empty;</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public</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 Phone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get</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set</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.Empty;</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1A94FF"/>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1200"/>
              </a:spcAft>
              <a:buNone/>
            </a:pPr>
            <a:r>
              <a:t/>
            </a:r>
            <a:endParaRPr sz="1100"/>
          </a:p>
        </p:txBody>
      </p:sp>
      <p:sp>
        <p:nvSpPr>
          <p:cNvPr id="204" name="Google Shape;204;g3f20ccbc9fc_3_1667"/>
          <p:cNvSpPr txBox="1"/>
          <p:nvPr/>
        </p:nvSpPr>
        <p:spPr>
          <a:xfrm>
            <a:off x="0" y="0"/>
            <a:ext cx="3000000" cy="3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60"/>
              </a:spcBef>
              <a:spcAft>
                <a:spcPts val="1200"/>
              </a:spcAft>
              <a:buNone/>
            </a:pPr>
            <a:r>
              <a:rPr lang="en-US" sz="1300" u="sng">
                <a:solidFill>
                  <a:schemeClr val="accent5"/>
                </a:solidFill>
                <a:latin typeface="Lato"/>
                <a:ea typeface="Lato"/>
                <a:cs typeface="Lato"/>
                <a:sym typeface="Lato"/>
                <a:hlinkClick r:id="rId3">
                  <a:extLst>
                    <a:ext uri="{A12FA001-AC4F-418D-AE19-62706E023703}">
                      <ahyp:hlinkClr val="tx"/>
                    </a:ext>
                  </a:extLst>
                </a:hlinkClick>
              </a:rPr>
              <a:t>Program.cs</a:t>
            </a:r>
            <a:r>
              <a:rPr lang="en-US" sz="1300">
                <a:solidFill>
                  <a:schemeClr val="accent1"/>
                </a:solidFill>
                <a:latin typeface="Lato"/>
                <a:ea typeface="Lato"/>
                <a:cs typeface="Lato"/>
                <a:sym typeface="Lato"/>
              </a:rPr>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3f20ccbc9fc_3_167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 code </a:t>
            </a:r>
            <a:r>
              <a:rPr lang="en-US" sz="1000"/>
              <a:t>Controllers/</a:t>
            </a:r>
            <a:r>
              <a:rPr lang="en-US" sz="1000" u="sng">
                <a:solidFill>
                  <a:schemeClr val="hlink"/>
                </a:solidFill>
                <a:hlinkClick r:id="rId3"/>
              </a:rPr>
              <a:t>CustomersController.cs</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t/>
            </a:r>
            <a:endParaRPr sz="1000"/>
          </a:p>
          <a:p>
            <a:pPr indent="0" lvl="0" marL="0" rtl="0" algn="ctr">
              <a:spcBef>
                <a:spcPts val="0"/>
              </a:spcBef>
              <a:spcAft>
                <a:spcPts val="0"/>
              </a:spcAft>
              <a:buNone/>
            </a:pPr>
            <a:r>
              <a:rPr lang="en-US" sz="1000"/>
              <a:t>show in visual Studio or Github</a:t>
            </a:r>
            <a:endParaRPr sz="1000"/>
          </a:p>
        </p:txBody>
      </p:sp>
      <p:sp>
        <p:nvSpPr>
          <p:cNvPr id="210" name="Google Shape;210;g3f20ccbc9fc_3_1675"/>
          <p:cNvSpPr txBox="1"/>
          <p:nvPr>
            <p:ph idx="1" type="body"/>
          </p:nvPr>
        </p:nvSpPr>
        <p:spPr>
          <a:xfrm>
            <a:off x="457200" y="3671375"/>
            <a:ext cx="8229600" cy="2454900"/>
          </a:xfrm>
          <a:prstGeom prst="rect">
            <a:avLst/>
          </a:prstGeom>
        </p:spPr>
        <p:txBody>
          <a:bodyPr anchorCtr="0" anchor="t" bIns="45700" lIns="91425" spcFirstLastPara="1" rIns="91425" wrap="square" tIns="45700">
            <a:normAutofit fontScale="25000" lnSpcReduction="20000"/>
          </a:bodyPr>
          <a:lstStyle/>
          <a:p>
            <a:pPr indent="0" lvl="0" marL="0" rtl="0" algn="l">
              <a:spcBef>
                <a:spcPts val="360"/>
              </a:spcBef>
              <a:spcAft>
                <a:spcPts val="0"/>
              </a:spcAft>
              <a:buNone/>
            </a:pPr>
            <a:r>
              <a:rPr lang="en-US" sz="900">
                <a:solidFill>
                  <a:srgbClr val="0000FF"/>
                </a:solidFill>
                <a:latin typeface="Arial"/>
                <a:ea typeface="Arial"/>
                <a:cs typeface="Arial"/>
                <a:sym typeface="Arial"/>
              </a:rPr>
              <a:t>using</a:t>
            </a:r>
            <a:r>
              <a:rPr lang="en-US" sz="900">
                <a:solidFill>
                  <a:srgbClr val="000000"/>
                </a:solidFill>
                <a:latin typeface="Arial"/>
                <a:ea typeface="Arial"/>
                <a:cs typeface="Arial"/>
                <a:sym typeface="Arial"/>
              </a:rPr>
              <a:t> DemoERPApi.Models;</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FF"/>
                </a:solidFill>
                <a:latin typeface="Arial"/>
                <a:ea typeface="Arial"/>
                <a:cs typeface="Arial"/>
                <a:sym typeface="Arial"/>
              </a:rPr>
              <a:t>using</a:t>
            </a:r>
            <a:r>
              <a:rPr lang="en-US" sz="900">
                <a:solidFill>
                  <a:srgbClr val="000000"/>
                </a:solidFill>
                <a:latin typeface="Arial"/>
                <a:ea typeface="Arial"/>
                <a:cs typeface="Arial"/>
                <a:sym typeface="Arial"/>
              </a:rPr>
              <a:t> Microsoft.AspNetCore.Mvc;</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FF"/>
                </a:solidFill>
                <a:latin typeface="Arial"/>
                <a:ea typeface="Arial"/>
                <a:cs typeface="Arial"/>
                <a:sym typeface="Arial"/>
              </a:rPr>
              <a:t>using</a:t>
            </a:r>
            <a:r>
              <a:rPr lang="en-US" sz="900">
                <a:solidFill>
                  <a:srgbClr val="000000"/>
                </a:solidFill>
                <a:latin typeface="Arial"/>
                <a:ea typeface="Arial"/>
                <a:cs typeface="Arial"/>
                <a:sym typeface="Arial"/>
              </a:rPr>
              <a:t> Microsoft.Data.SqlClient;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FF"/>
                </a:solidFill>
                <a:latin typeface="Arial"/>
                <a:ea typeface="Arial"/>
                <a:cs typeface="Arial"/>
                <a:sym typeface="Arial"/>
              </a:rPr>
              <a:t>using</a:t>
            </a:r>
            <a:r>
              <a:rPr lang="en-US" sz="900">
                <a:solidFill>
                  <a:srgbClr val="000000"/>
                </a:solidFill>
                <a:latin typeface="Arial"/>
                <a:ea typeface="Arial"/>
                <a:cs typeface="Arial"/>
                <a:sym typeface="Arial"/>
              </a:rPr>
              <a:t> System.Data;</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FF"/>
                </a:solidFill>
                <a:latin typeface="Arial"/>
                <a:ea typeface="Arial"/>
                <a:cs typeface="Arial"/>
                <a:sym typeface="Arial"/>
              </a:rPr>
              <a:t>namespace</a:t>
            </a:r>
            <a:r>
              <a:rPr lang="en-US" sz="900">
                <a:solidFill>
                  <a:srgbClr val="000000"/>
                </a:solidFill>
                <a:latin typeface="Arial"/>
                <a:ea typeface="Arial"/>
                <a:cs typeface="Arial"/>
                <a:sym typeface="Arial"/>
              </a:rPr>
              <a:t> DemoERPApi.Controllers;</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1A94FF"/>
                </a:solidFill>
                <a:latin typeface="Arial"/>
                <a:ea typeface="Arial"/>
                <a:cs typeface="Arial"/>
                <a:sym typeface="Arial"/>
              </a:rPr>
              <a:t>[</a:t>
            </a:r>
            <a:r>
              <a:rPr lang="en-US" sz="900">
                <a:solidFill>
                  <a:srgbClr val="2B91AF"/>
                </a:solidFill>
                <a:latin typeface="Arial"/>
                <a:ea typeface="Arial"/>
                <a:cs typeface="Arial"/>
                <a:sym typeface="Arial"/>
              </a:rPr>
              <a:t>ApiController</a:t>
            </a:r>
            <a:r>
              <a:rPr lang="en-US" sz="900">
                <a:solidFill>
                  <a:srgbClr val="1A94FF"/>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1A94FF"/>
                </a:solidFill>
                <a:latin typeface="Arial"/>
                <a:ea typeface="Arial"/>
                <a:cs typeface="Arial"/>
                <a:sym typeface="Arial"/>
              </a:rPr>
              <a:t>[</a:t>
            </a:r>
            <a:r>
              <a:rPr lang="en-US" sz="900">
                <a:solidFill>
                  <a:srgbClr val="2B91AF"/>
                </a:solidFill>
                <a:latin typeface="Arial"/>
                <a:ea typeface="Arial"/>
                <a:cs typeface="Arial"/>
                <a:sym typeface="Arial"/>
              </a:rPr>
              <a:t>Route</a:t>
            </a:r>
            <a:r>
              <a:rPr lang="en-US" sz="900">
                <a:solidFill>
                  <a:srgbClr val="FFD702"/>
                </a:solidFill>
                <a:latin typeface="Arial"/>
                <a:ea typeface="Arial"/>
                <a:cs typeface="Arial"/>
                <a:sym typeface="Arial"/>
              </a:rPr>
              <a:t>(</a:t>
            </a:r>
            <a:r>
              <a:rPr lang="en-US" sz="900">
                <a:solidFill>
                  <a:srgbClr val="A31515"/>
                </a:solidFill>
                <a:latin typeface="Arial"/>
                <a:ea typeface="Arial"/>
                <a:cs typeface="Arial"/>
                <a:sym typeface="Arial"/>
              </a:rPr>
              <a:t>"api/</a:t>
            </a:r>
            <a:r>
              <a:rPr lang="en-US" sz="900">
                <a:solidFill>
                  <a:srgbClr val="0073FF"/>
                </a:solidFill>
                <a:latin typeface="Arial"/>
                <a:ea typeface="Arial"/>
                <a:cs typeface="Arial"/>
                <a:sym typeface="Arial"/>
              </a:rPr>
              <a:t>[controller]</a:t>
            </a:r>
            <a:r>
              <a:rPr lang="en-US" sz="900">
                <a:solidFill>
                  <a:srgbClr val="A31515"/>
                </a:solidFill>
                <a:latin typeface="Arial"/>
                <a:ea typeface="Arial"/>
                <a:cs typeface="Arial"/>
                <a:sym typeface="Arial"/>
              </a:rPr>
              <a:t>"</a:t>
            </a:r>
            <a:r>
              <a:rPr lang="en-US" sz="900">
                <a:solidFill>
                  <a:srgbClr val="FFD702"/>
                </a:solidFill>
                <a:latin typeface="Arial"/>
                <a:ea typeface="Arial"/>
                <a:cs typeface="Arial"/>
                <a:sym typeface="Arial"/>
              </a:rPr>
              <a:t>)</a:t>
            </a:r>
            <a:r>
              <a:rPr lang="en-US" sz="900">
                <a:solidFill>
                  <a:srgbClr val="1A94FF"/>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FF"/>
                </a:solidFill>
                <a:latin typeface="Arial"/>
                <a:ea typeface="Arial"/>
                <a:cs typeface="Arial"/>
                <a:sym typeface="Arial"/>
              </a:rPr>
              <a:t>public</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class</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CustomerController</a:t>
            </a:r>
            <a:r>
              <a:rPr lang="en-US" sz="900">
                <a:solidFill>
                  <a:srgbClr val="000000"/>
                </a:solidFill>
                <a:latin typeface="Arial"/>
                <a:ea typeface="Arial"/>
                <a:cs typeface="Arial"/>
                <a:sym typeface="Arial"/>
              </a:rPr>
              <a:t> : </a:t>
            </a:r>
            <a:r>
              <a:rPr lang="en-US" sz="900">
                <a:solidFill>
                  <a:srgbClr val="2B91AF"/>
                </a:solidFill>
                <a:latin typeface="Arial"/>
                <a:ea typeface="Arial"/>
                <a:cs typeface="Arial"/>
                <a:sym typeface="Arial"/>
              </a:rPr>
              <a:t>ControllerBase</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1A94FF"/>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private</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readonly</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 _connectionString;</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public</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CustomerController</a:t>
            </a:r>
            <a:r>
              <a:rPr lang="en-US" sz="900">
                <a:solidFill>
                  <a:srgbClr val="FFD702"/>
                </a:solidFill>
                <a:latin typeface="Arial"/>
                <a:ea typeface="Arial"/>
                <a:cs typeface="Arial"/>
                <a:sym typeface="Arial"/>
              </a:rPr>
              <a:t>(</a:t>
            </a:r>
            <a:r>
              <a:rPr lang="en-US" sz="900">
                <a:solidFill>
                  <a:srgbClr val="2B91AF"/>
                </a:solidFill>
                <a:latin typeface="Arial"/>
                <a:ea typeface="Arial"/>
                <a:cs typeface="Arial"/>
                <a:sym typeface="Arial"/>
              </a:rPr>
              <a:t>IConfiguration</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configuration</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_connectionString = </a:t>
            </a:r>
            <a:r>
              <a:rPr lang="en-US" sz="900">
                <a:solidFill>
                  <a:srgbClr val="1F377F"/>
                </a:solidFill>
                <a:latin typeface="Arial"/>
                <a:ea typeface="Arial"/>
                <a:cs typeface="Arial"/>
                <a:sym typeface="Arial"/>
              </a:rPr>
              <a:t>configuration</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GetConnectionString</a:t>
            </a:r>
            <a:r>
              <a:rPr lang="en-US" sz="900">
                <a:solidFill>
                  <a:srgbClr val="D86AC2"/>
                </a:solidFill>
                <a:latin typeface="Arial"/>
                <a:ea typeface="Arial"/>
                <a:cs typeface="Arial"/>
                <a:sym typeface="Arial"/>
              </a:rPr>
              <a:t>(</a:t>
            </a:r>
            <a:r>
              <a:rPr lang="en-US" sz="900">
                <a:solidFill>
                  <a:srgbClr val="A31515"/>
                </a:solidFill>
                <a:latin typeface="Arial"/>
                <a:ea typeface="Arial"/>
                <a:cs typeface="Arial"/>
                <a:sym typeface="Arial"/>
              </a:rPr>
              <a:t>"DemoERPConnection"</a:t>
            </a:r>
            <a:r>
              <a:rPr lang="en-US" sz="900">
                <a:solidFill>
                  <a:srgbClr val="D86AC2"/>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8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8000"/>
                </a:solidFill>
                <a:latin typeface="Arial"/>
                <a:ea typeface="Arial"/>
                <a:cs typeface="Arial"/>
                <a:sym typeface="Arial"/>
              </a:rPr>
              <a:t>// ORIGINAL FUNCTION (UNCHANGED - DO NOT TOUCH)</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8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2B91AF"/>
                </a:solidFill>
                <a:latin typeface="Arial"/>
                <a:ea typeface="Arial"/>
                <a:cs typeface="Arial"/>
                <a:sym typeface="Arial"/>
              </a:rPr>
              <a:t>HttpPost</a:t>
            </a:r>
            <a:r>
              <a:rPr lang="en-US" sz="900">
                <a:solidFill>
                  <a:srgbClr val="D86AC2"/>
                </a:solidFill>
                <a:latin typeface="Arial"/>
                <a:ea typeface="Arial"/>
                <a:cs typeface="Arial"/>
                <a:sym typeface="Arial"/>
              </a:rPr>
              <a:t>(</a:t>
            </a:r>
            <a:r>
              <a:rPr lang="en-US" sz="900">
                <a:solidFill>
                  <a:srgbClr val="A31515"/>
                </a:solidFill>
                <a:latin typeface="Arial"/>
                <a:ea typeface="Arial"/>
                <a:cs typeface="Arial"/>
                <a:sym typeface="Arial"/>
              </a:rPr>
              <a:t>"sync"</a:t>
            </a:r>
            <a:r>
              <a:rPr lang="en-US" sz="900">
                <a:solidFill>
                  <a:srgbClr val="D86AC2"/>
                </a:solidFill>
                <a:latin typeface="Arial"/>
                <a:ea typeface="Arial"/>
                <a:cs typeface="Arial"/>
                <a:sym typeface="Arial"/>
              </a:rPr>
              <a:t>)</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public</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IActionResult</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SyncCustomer</a:t>
            </a:r>
            <a:r>
              <a:rPr lang="en-US" sz="900">
                <a:solidFill>
                  <a:srgbClr val="FFD702"/>
                </a:solidFill>
                <a:latin typeface="Arial"/>
                <a:ea typeface="Arial"/>
                <a:cs typeface="Arial"/>
                <a:sym typeface="Arial"/>
              </a:rPr>
              <a:t>(</a:t>
            </a:r>
            <a:r>
              <a:rPr lang="en-US" sz="900">
                <a:solidFill>
                  <a:srgbClr val="D86AC2"/>
                </a:solidFill>
                <a:latin typeface="Arial"/>
                <a:ea typeface="Arial"/>
                <a:cs typeface="Arial"/>
                <a:sym typeface="Arial"/>
              </a:rPr>
              <a:t>[</a:t>
            </a:r>
            <a:r>
              <a:rPr lang="en-US" sz="900">
                <a:solidFill>
                  <a:srgbClr val="2B91AF"/>
                </a:solidFill>
                <a:latin typeface="Arial"/>
                <a:ea typeface="Arial"/>
                <a:cs typeface="Arial"/>
                <a:sym typeface="Arial"/>
              </a:rPr>
              <a:t>FromBody</a:t>
            </a:r>
            <a:r>
              <a:rPr lang="en-US" sz="900">
                <a:solidFill>
                  <a:srgbClr val="D86AC2"/>
                </a:solidFill>
                <a:latin typeface="Arial"/>
                <a:ea typeface="Arial"/>
                <a:cs typeface="Arial"/>
                <a:sym typeface="Arial"/>
              </a:rPr>
              <a:t>]</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CustomerDto</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customer</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if</a:t>
            </a: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r>
              <a:rPr lang="en-US" sz="900">
                <a:solidFill>
                  <a:srgbClr val="1F377F"/>
                </a:solidFill>
                <a:latin typeface="Arial"/>
                <a:ea typeface="Arial"/>
                <a:cs typeface="Arial"/>
                <a:sym typeface="Arial"/>
              </a:rPr>
              <a:t>customer</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null</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return</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BadRequest</a:t>
            </a:r>
            <a:r>
              <a:rPr lang="en-US" sz="900">
                <a:solidFill>
                  <a:srgbClr val="1A94FF"/>
                </a:solidFill>
                <a:latin typeface="Arial"/>
                <a:ea typeface="Arial"/>
                <a:cs typeface="Arial"/>
                <a:sym typeface="Arial"/>
              </a:rPr>
              <a:t>(</a:t>
            </a:r>
            <a:r>
              <a:rPr lang="en-US" sz="900">
                <a:solidFill>
                  <a:srgbClr val="A31515"/>
                </a:solidFill>
                <a:latin typeface="Arial"/>
                <a:ea typeface="Arial"/>
                <a:cs typeface="Arial"/>
                <a:sym typeface="Arial"/>
              </a:rPr>
              <a:t>"Customer payload is null"</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try</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using</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SqlConnection</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conn</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SqlConnection</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_connectionString</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using</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SqlCommand</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SqlCommand</a:t>
            </a:r>
            <a:r>
              <a:rPr lang="en-US" sz="900">
                <a:solidFill>
                  <a:srgbClr val="1A94FF"/>
                </a:solidFill>
                <a:latin typeface="Arial"/>
                <a:ea typeface="Arial"/>
                <a:cs typeface="Arial"/>
                <a:sym typeface="Arial"/>
              </a:rPr>
              <a:t>(</a:t>
            </a:r>
            <a:r>
              <a:rPr lang="en-US" sz="900">
                <a:solidFill>
                  <a:srgbClr val="A31515"/>
                </a:solidFill>
                <a:latin typeface="Arial"/>
                <a:ea typeface="Arial"/>
                <a:cs typeface="Arial"/>
                <a:sym typeface="Arial"/>
              </a:rPr>
              <a:t>"usp_InsertCustomer"</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conn</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.CommandType = </a:t>
            </a:r>
            <a:r>
              <a:rPr lang="en-US" sz="900">
                <a:solidFill>
                  <a:srgbClr val="2B91AF"/>
                </a:solidFill>
                <a:latin typeface="Arial"/>
                <a:ea typeface="Arial"/>
                <a:cs typeface="Arial"/>
                <a:sym typeface="Arial"/>
              </a:rPr>
              <a:t>CommandType</a:t>
            </a:r>
            <a:r>
              <a:rPr lang="en-US" sz="900">
                <a:solidFill>
                  <a:srgbClr val="000000"/>
                </a:solidFill>
                <a:latin typeface="Arial"/>
                <a:ea typeface="Arial"/>
                <a:cs typeface="Arial"/>
                <a:sym typeface="Arial"/>
              </a:rPr>
              <a:t>.StoredProcedure;</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.Parameters.</a:t>
            </a:r>
            <a:r>
              <a:rPr lang="en-US" sz="900">
                <a:solidFill>
                  <a:srgbClr val="74531F"/>
                </a:solidFill>
                <a:latin typeface="Arial"/>
                <a:ea typeface="Arial"/>
                <a:cs typeface="Arial"/>
                <a:sym typeface="Arial"/>
              </a:rPr>
              <a:t>Add</a:t>
            </a:r>
            <a:r>
              <a:rPr lang="en-US" sz="900">
                <a:solidFill>
                  <a:srgbClr val="1A94FF"/>
                </a:solidFill>
                <a:latin typeface="Arial"/>
                <a:ea typeface="Arial"/>
                <a:cs typeface="Arial"/>
                <a:sym typeface="Arial"/>
              </a:rPr>
              <a:t>(</a:t>
            </a:r>
            <a:r>
              <a:rPr lang="en-US" sz="900">
                <a:solidFill>
                  <a:srgbClr val="A31515"/>
                </a:solidFill>
                <a:latin typeface="Arial"/>
                <a:ea typeface="Arial"/>
                <a:cs typeface="Arial"/>
                <a:sym typeface="Arial"/>
              </a:rPr>
              <a:t>"@CRMCustomerID"</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SqlDbType</a:t>
            </a:r>
            <a:r>
              <a:rPr lang="en-US" sz="900">
                <a:solidFill>
                  <a:srgbClr val="000000"/>
                </a:solidFill>
                <a:latin typeface="Arial"/>
                <a:ea typeface="Arial"/>
                <a:cs typeface="Arial"/>
                <a:sym typeface="Arial"/>
              </a:rPr>
              <a:t>.VarChar</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.Value = </a:t>
            </a:r>
            <a:r>
              <a:rPr lang="en-US" sz="900">
                <a:solidFill>
                  <a:srgbClr val="1F377F"/>
                </a:solidFill>
                <a:latin typeface="Arial"/>
                <a:ea typeface="Arial"/>
                <a:cs typeface="Arial"/>
                <a:sym typeface="Arial"/>
              </a:rPr>
              <a:t>customer</a:t>
            </a:r>
            <a:r>
              <a:rPr lang="en-US" sz="900">
                <a:solidFill>
                  <a:srgbClr val="000000"/>
                </a:solidFill>
                <a:latin typeface="Arial"/>
                <a:ea typeface="Arial"/>
                <a:cs typeface="Arial"/>
                <a:sym typeface="Arial"/>
              </a:rPr>
              <a:t>.CustomerId ?? </a:t>
            </a:r>
            <a:r>
              <a:rPr lang="en-US" sz="900">
                <a:solidFill>
                  <a:srgbClr val="A31515"/>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.Parameters.</a:t>
            </a:r>
            <a:r>
              <a:rPr lang="en-US" sz="900">
                <a:solidFill>
                  <a:srgbClr val="74531F"/>
                </a:solidFill>
                <a:latin typeface="Arial"/>
                <a:ea typeface="Arial"/>
                <a:cs typeface="Arial"/>
                <a:sym typeface="Arial"/>
              </a:rPr>
              <a:t>Add</a:t>
            </a:r>
            <a:r>
              <a:rPr lang="en-US" sz="900">
                <a:solidFill>
                  <a:srgbClr val="1A94FF"/>
                </a:solidFill>
                <a:latin typeface="Arial"/>
                <a:ea typeface="Arial"/>
                <a:cs typeface="Arial"/>
                <a:sym typeface="Arial"/>
              </a:rPr>
              <a:t>(</a:t>
            </a:r>
            <a:r>
              <a:rPr lang="en-US" sz="900">
                <a:solidFill>
                  <a:srgbClr val="A31515"/>
                </a:solidFill>
                <a:latin typeface="Arial"/>
                <a:ea typeface="Arial"/>
                <a:cs typeface="Arial"/>
                <a:sym typeface="Arial"/>
              </a:rPr>
              <a:t>"@FirstName"</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SqlDbType</a:t>
            </a:r>
            <a:r>
              <a:rPr lang="en-US" sz="900">
                <a:solidFill>
                  <a:srgbClr val="000000"/>
                </a:solidFill>
                <a:latin typeface="Arial"/>
                <a:ea typeface="Arial"/>
                <a:cs typeface="Arial"/>
                <a:sym typeface="Arial"/>
              </a:rPr>
              <a:t>.VarChar</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.Value = </a:t>
            </a:r>
            <a:r>
              <a:rPr lang="en-US" sz="900">
                <a:solidFill>
                  <a:srgbClr val="1F377F"/>
                </a:solidFill>
                <a:latin typeface="Arial"/>
                <a:ea typeface="Arial"/>
                <a:cs typeface="Arial"/>
                <a:sym typeface="Arial"/>
              </a:rPr>
              <a:t>customer</a:t>
            </a:r>
            <a:r>
              <a:rPr lang="en-US" sz="900">
                <a:solidFill>
                  <a:srgbClr val="000000"/>
                </a:solidFill>
                <a:latin typeface="Arial"/>
                <a:ea typeface="Arial"/>
                <a:cs typeface="Arial"/>
                <a:sym typeface="Arial"/>
              </a:rPr>
              <a:t>.FirstName ?? </a:t>
            </a:r>
            <a:r>
              <a:rPr lang="en-US" sz="900">
                <a:solidFill>
                  <a:srgbClr val="A31515"/>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.Parameters.</a:t>
            </a:r>
            <a:r>
              <a:rPr lang="en-US" sz="900">
                <a:solidFill>
                  <a:srgbClr val="74531F"/>
                </a:solidFill>
                <a:latin typeface="Arial"/>
                <a:ea typeface="Arial"/>
                <a:cs typeface="Arial"/>
                <a:sym typeface="Arial"/>
              </a:rPr>
              <a:t>Add</a:t>
            </a:r>
            <a:r>
              <a:rPr lang="en-US" sz="900">
                <a:solidFill>
                  <a:srgbClr val="1A94FF"/>
                </a:solidFill>
                <a:latin typeface="Arial"/>
                <a:ea typeface="Arial"/>
                <a:cs typeface="Arial"/>
                <a:sym typeface="Arial"/>
              </a:rPr>
              <a:t>(</a:t>
            </a:r>
            <a:r>
              <a:rPr lang="en-US" sz="900">
                <a:solidFill>
                  <a:srgbClr val="A31515"/>
                </a:solidFill>
                <a:latin typeface="Arial"/>
                <a:ea typeface="Arial"/>
                <a:cs typeface="Arial"/>
                <a:sym typeface="Arial"/>
              </a:rPr>
              <a:t>"@LastName"</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SqlDbType</a:t>
            </a:r>
            <a:r>
              <a:rPr lang="en-US" sz="900">
                <a:solidFill>
                  <a:srgbClr val="000000"/>
                </a:solidFill>
                <a:latin typeface="Arial"/>
                <a:ea typeface="Arial"/>
                <a:cs typeface="Arial"/>
                <a:sym typeface="Arial"/>
              </a:rPr>
              <a:t>.VarChar</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.Value = </a:t>
            </a:r>
            <a:r>
              <a:rPr lang="en-US" sz="900">
                <a:solidFill>
                  <a:srgbClr val="1F377F"/>
                </a:solidFill>
                <a:latin typeface="Arial"/>
                <a:ea typeface="Arial"/>
                <a:cs typeface="Arial"/>
                <a:sym typeface="Arial"/>
              </a:rPr>
              <a:t>customer</a:t>
            </a:r>
            <a:r>
              <a:rPr lang="en-US" sz="900">
                <a:solidFill>
                  <a:srgbClr val="000000"/>
                </a:solidFill>
                <a:latin typeface="Arial"/>
                <a:ea typeface="Arial"/>
                <a:cs typeface="Arial"/>
                <a:sym typeface="Arial"/>
              </a:rPr>
              <a:t>.LastName ?? </a:t>
            </a:r>
            <a:r>
              <a:rPr lang="en-US" sz="900">
                <a:solidFill>
                  <a:srgbClr val="A31515"/>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.Parameters.</a:t>
            </a:r>
            <a:r>
              <a:rPr lang="en-US" sz="900">
                <a:solidFill>
                  <a:srgbClr val="74531F"/>
                </a:solidFill>
                <a:latin typeface="Arial"/>
                <a:ea typeface="Arial"/>
                <a:cs typeface="Arial"/>
                <a:sym typeface="Arial"/>
              </a:rPr>
              <a:t>Add</a:t>
            </a:r>
            <a:r>
              <a:rPr lang="en-US" sz="900">
                <a:solidFill>
                  <a:srgbClr val="1A94FF"/>
                </a:solidFill>
                <a:latin typeface="Arial"/>
                <a:ea typeface="Arial"/>
                <a:cs typeface="Arial"/>
                <a:sym typeface="Arial"/>
              </a:rPr>
              <a:t>(</a:t>
            </a:r>
            <a:r>
              <a:rPr lang="en-US" sz="900">
                <a:solidFill>
                  <a:srgbClr val="A31515"/>
                </a:solidFill>
                <a:latin typeface="Arial"/>
                <a:ea typeface="Arial"/>
                <a:cs typeface="Arial"/>
                <a:sym typeface="Arial"/>
              </a:rPr>
              <a:t>"@Email"</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SqlDbType</a:t>
            </a:r>
            <a:r>
              <a:rPr lang="en-US" sz="900">
                <a:solidFill>
                  <a:srgbClr val="000000"/>
                </a:solidFill>
                <a:latin typeface="Arial"/>
                <a:ea typeface="Arial"/>
                <a:cs typeface="Arial"/>
                <a:sym typeface="Arial"/>
              </a:rPr>
              <a:t>.VarChar</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.Value = </a:t>
            </a:r>
            <a:r>
              <a:rPr lang="en-US" sz="900">
                <a:solidFill>
                  <a:srgbClr val="1F377F"/>
                </a:solidFill>
                <a:latin typeface="Arial"/>
                <a:ea typeface="Arial"/>
                <a:cs typeface="Arial"/>
                <a:sym typeface="Arial"/>
              </a:rPr>
              <a:t>customer</a:t>
            </a:r>
            <a:r>
              <a:rPr lang="en-US" sz="900">
                <a:solidFill>
                  <a:srgbClr val="000000"/>
                </a:solidFill>
                <a:latin typeface="Arial"/>
                <a:ea typeface="Arial"/>
                <a:cs typeface="Arial"/>
                <a:sym typeface="Arial"/>
              </a:rPr>
              <a:t>.Email ?? </a:t>
            </a:r>
            <a:r>
              <a:rPr lang="en-US" sz="900">
                <a:solidFill>
                  <a:srgbClr val="A31515"/>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.Parameters.</a:t>
            </a:r>
            <a:r>
              <a:rPr lang="en-US" sz="900">
                <a:solidFill>
                  <a:srgbClr val="74531F"/>
                </a:solidFill>
                <a:latin typeface="Arial"/>
                <a:ea typeface="Arial"/>
                <a:cs typeface="Arial"/>
                <a:sym typeface="Arial"/>
              </a:rPr>
              <a:t>Add</a:t>
            </a:r>
            <a:r>
              <a:rPr lang="en-US" sz="900">
                <a:solidFill>
                  <a:srgbClr val="1A94FF"/>
                </a:solidFill>
                <a:latin typeface="Arial"/>
                <a:ea typeface="Arial"/>
                <a:cs typeface="Arial"/>
                <a:sym typeface="Arial"/>
              </a:rPr>
              <a:t>(</a:t>
            </a:r>
            <a:r>
              <a:rPr lang="en-US" sz="900">
                <a:solidFill>
                  <a:srgbClr val="A31515"/>
                </a:solidFill>
                <a:latin typeface="Arial"/>
                <a:ea typeface="Arial"/>
                <a:cs typeface="Arial"/>
                <a:sym typeface="Arial"/>
              </a:rPr>
              <a:t>"@Phone"</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SqlDbType</a:t>
            </a:r>
            <a:r>
              <a:rPr lang="en-US" sz="900">
                <a:solidFill>
                  <a:srgbClr val="000000"/>
                </a:solidFill>
                <a:latin typeface="Arial"/>
                <a:ea typeface="Arial"/>
                <a:cs typeface="Arial"/>
                <a:sym typeface="Arial"/>
              </a:rPr>
              <a:t>.VarChar</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.Value = </a:t>
            </a:r>
            <a:r>
              <a:rPr lang="en-US" sz="900">
                <a:solidFill>
                  <a:srgbClr val="1F377F"/>
                </a:solidFill>
                <a:latin typeface="Arial"/>
                <a:ea typeface="Arial"/>
                <a:cs typeface="Arial"/>
                <a:sym typeface="Arial"/>
              </a:rPr>
              <a:t>customer</a:t>
            </a:r>
            <a:r>
              <a:rPr lang="en-US" sz="900">
                <a:solidFill>
                  <a:srgbClr val="000000"/>
                </a:solidFill>
                <a:latin typeface="Arial"/>
                <a:ea typeface="Arial"/>
                <a:cs typeface="Arial"/>
                <a:sym typeface="Arial"/>
              </a:rPr>
              <a:t>.Phone ?? </a:t>
            </a:r>
            <a:r>
              <a:rPr lang="en-US" sz="900">
                <a:solidFill>
                  <a:srgbClr val="A31515"/>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conn</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Open</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int</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rowsAffected</a:t>
            </a:r>
            <a:r>
              <a:rPr lang="en-US" sz="900">
                <a:solidFill>
                  <a:srgbClr val="000000"/>
                </a:solidFill>
                <a:latin typeface="Arial"/>
                <a:ea typeface="Arial"/>
                <a:cs typeface="Arial"/>
                <a:sym typeface="Arial"/>
              </a:rPr>
              <a:t> =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ExecuteNonQuery</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return</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Ok</a:t>
            </a:r>
            <a:r>
              <a:rPr lang="en-US" sz="900">
                <a:solidFill>
                  <a:srgbClr val="1A94FF"/>
                </a:solidFill>
                <a:latin typeface="Arial"/>
                <a:ea typeface="Arial"/>
                <a:cs typeface="Arial"/>
                <a:sym typeface="Arial"/>
              </a:rPr>
              <a:t>(</a:t>
            </a:r>
            <a:r>
              <a:rPr lang="en-US" sz="900">
                <a:solidFill>
                  <a:srgbClr val="0000FF"/>
                </a:solidFill>
                <a:latin typeface="Arial"/>
                <a:ea typeface="Arial"/>
                <a:cs typeface="Arial"/>
                <a:sym typeface="Arial"/>
              </a:rPr>
              <a:t>new</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Message = </a:t>
            </a:r>
            <a:r>
              <a:rPr lang="en-US" sz="900">
                <a:solidFill>
                  <a:srgbClr val="A31515"/>
                </a:solidFill>
                <a:latin typeface="Arial"/>
                <a:ea typeface="Arial"/>
                <a:cs typeface="Arial"/>
                <a:sym typeface="Arial"/>
              </a:rPr>
              <a:t>"Customer synced successfully"</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RowsAffected = </a:t>
            </a:r>
            <a:r>
              <a:rPr lang="en-US" sz="900">
                <a:solidFill>
                  <a:srgbClr val="1F377F"/>
                </a:solidFill>
                <a:latin typeface="Arial"/>
                <a:ea typeface="Arial"/>
                <a:cs typeface="Arial"/>
                <a:sym typeface="Arial"/>
              </a:rPr>
              <a:t>rowsAffected</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catch</a:t>
            </a: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r>
              <a:rPr lang="en-US" sz="900">
                <a:solidFill>
                  <a:srgbClr val="2B91AF"/>
                </a:solidFill>
                <a:latin typeface="Arial"/>
                <a:ea typeface="Arial"/>
                <a:cs typeface="Arial"/>
                <a:sym typeface="Arial"/>
              </a:rPr>
              <a:t>Exception</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ex</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return</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StatusCode</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500, </a:t>
            </a:r>
            <a:r>
              <a:rPr lang="en-US" sz="900">
                <a:solidFill>
                  <a:srgbClr val="0000FF"/>
                </a:solidFill>
                <a:latin typeface="Arial"/>
                <a:ea typeface="Arial"/>
                <a:cs typeface="Arial"/>
                <a:sym typeface="Arial"/>
              </a:rPr>
              <a:t>new</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Error = </a:t>
            </a:r>
            <a:r>
              <a:rPr lang="en-US" sz="900">
                <a:solidFill>
                  <a:srgbClr val="1F377F"/>
                </a:solidFill>
                <a:latin typeface="Arial"/>
                <a:ea typeface="Arial"/>
                <a:cs typeface="Arial"/>
                <a:sym typeface="Arial"/>
              </a:rPr>
              <a:t>ex</a:t>
            </a:r>
            <a:r>
              <a:rPr lang="en-US" sz="900">
                <a:solidFill>
                  <a:srgbClr val="000000"/>
                </a:solidFill>
                <a:latin typeface="Arial"/>
                <a:ea typeface="Arial"/>
                <a:cs typeface="Arial"/>
                <a:sym typeface="Arial"/>
              </a:rPr>
              <a:t>.Message,</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Detail = </a:t>
            </a:r>
            <a:r>
              <a:rPr lang="en-US" sz="900">
                <a:solidFill>
                  <a:srgbClr val="1F377F"/>
                </a:solidFill>
                <a:latin typeface="Arial"/>
                <a:ea typeface="Arial"/>
                <a:cs typeface="Arial"/>
                <a:sym typeface="Arial"/>
              </a:rPr>
              <a:t>ex</a:t>
            </a:r>
            <a:r>
              <a:rPr lang="en-US" sz="900">
                <a:solidFill>
                  <a:srgbClr val="000000"/>
                </a:solidFill>
                <a:latin typeface="Arial"/>
                <a:ea typeface="Arial"/>
                <a:cs typeface="Arial"/>
                <a:sym typeface="Arial"/>
              </a:rPr>
              <a:t>.InnerException?.Message</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8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8000"/>
                </a:solidFill>
                <a:latin typeface="Arial"/>
                <a:ea typeface="Arial"/>
                <a:cs typeface="Arial"/>
                <a:sym typeface="Arial"/>
              </a:rPr>
              <a:t>// NEW: GET CUSTOMER BY ID</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8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2B91AF"/>
                </a:solidFill>
                <a:latin typeface="Arial"/>
                <a:ea typeface="Arial"/>
                <a:cs typeface="Arial"/>
                <a:sym typeface="Arial"/>
              </a:rPr>
              <a:t>HttpGet</a:t>
            </a:r>
            <a:r>
              <a:rPr lang="en-US" sz="900">
                <a:solidFill>
                  <a:srgbClr val="D86AC2"/>
                </a:solidFill>
                <a:latin typeface="Arial"/>
                <a:ea typeface="Arial"/>
                <a:cs typeface="Arial"/>
                <a:sym typeface="Arial"/>
              </a:rPr>
              <a:t>(</a:t>
            </a:r>
            <a:r>
              <a:rPr lang="en-US" sz="900">
                <a:solidFill>
                  <a:srgbClr val="A31515"/>
                </a:solidFill>
                <a:latin typeface="Arial"/>
                <a:ea typeface="Arial"/>
                <a:cs typeface="Arial"/>
                <a:sym typeface="Arial"/>
              </a:rPr>
              <a:t>"</a:t>
            </a:r>
            <a:r>
              <a:rPr lang="en-US" sz="900">
                <a:solidFill>
                  <a:srgbClr val="0073FF"/>
                </a:solidFill>
                <a:latin typeface="Arial"/>
                <a:ea typeface="Arial"/>
                <a:cs typeface="Arial"/>
                <a:sym typeface="Arial"/>
              </a:rPr>
              <a:t>{</a:t>
            </a:r>
            <a:r>
              <a:rPr lang="en-US" sz="900">
                <a:solidFill>
                  <a:srgbClr val="000000"/>
                </a:solidFill>
                <a:latin typeface="Arial"/>
                <a:ea typeface="Arial"/>
                <a:cs typeface="Arial"/>
                <a:sym typeface="Arial"/>
              </a:rPr>
              <a:t>crmId</a:t>
            </a:r>
            <a:r>
              <a:rPr lang="en-US" sz="900">
                <a:solidFill>
                  <a:srgbClr val="0073FF"/>
                </a:solidFill>
                <a:latin typeface="Arial"/>
                <a:ea typeface="Arial"/>
                <a:cs typeface="Arial"/>
                <a:sym typeface="Arial"/>
              </a:rPr>
              <a:t>}</a:t>
            </a:r>
            <a:r>
              <a:rPr lang="en-US" sz="900">
                <a:solidFill>
                  <a:srgbClr val="A31515"/>
                </a:solidFill>
                <a:latin typeface="Arial"/>
                <a:ea typeface="Arial"/>
                <a:cs typeface="Arial"/>
                <a:sym typeface="Arial"/>
              </a:rPr>
              <a:t>"</a:t>
            </a:r>
            <a:r>
              <a:rPr lang="en-US" sz="900">
                <a:solidFill>
                  <a:srgbClr val="D86AC2"/>
                </a:solidFill>
                <a:latin typeface="Arial"/>
                <a:ea typeface="Arial"/>
                <a:cs typeface="Arial"/>
                <a:sym typeface="Arial"/>
              </a:rPr>
              <a:t>)</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public</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IActionResult</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GetCustomer</a:t>
            </a:r>
            <a:r>
              <a:rPr lang="en-US" sz="900">
                <a:solidFill>
                  <a:srgbClr val="FFD702"/>
                </a:solidFill>
                <a:latin typeface="Arial"/>
                <a:ea typeface="Arial"/>
                <a:cs typeface="Arial"/>
                <a:sym typeface="Arial"/>
              </a:rPr>
              <a:t>(</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crmId</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try</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using</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SqlConnection</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conn</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SqlConnection</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_connectionString</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sql</a:t>
            </a:r>
            <a:r>
              <a:rPr lang="en-US" sz="900">
                <a:solidFill>
                  <a:srgbClr val="000000"/>
                </a:solidFill>
                <a:latin typeface="Arial"/>
                <a:ea typeface="Arial"/>
                <a:cs typeface="Arial"/>
                <a:sym typeface="Arial"/>
              </a:rPr>
              <a:t> = </a:t>
            </a:r>
            <a:r>
              <a:rPr lang="en-US" sz="900">
                <a:solidFill>
                  <a:srgbClr val="800000"/>
                </a:solidFill>
                <a:latin typeface="Arial"/>
                <a:ea typeface="Arial"/>
                <a:cs typeface="Arial"/>
                <a:sym typeface="Arial"/>
              </a:rPr>
              <a:t>@"</a:t>
            </a:r>
            <a:endParaRPr sz="900">
              <a:solidFill>
                <a:srgbClr val="800000"/>
              </a:solidFill>
              <a:latin typeface="Arial"/>
              <a:ea typeface="Arial"/>
              <a:cs typeface="Arial"/>
              <a:sym typeface="Arial"/>
            </a:endParaRPr>
          </a:p>
          <a:p>
            <a:pPr indent="0" lvl="0" marL="0" rtl="0" algn="l">
              <a:spcBef>
                <a:spcPts val="1200"/>
              </a:spcBef>
              <a:spcAft>
                <a:spcPts val="0"/>
              </a:spcAft>
              <a:buNone/>
            </a:pPr>
            <a:r>
              <a:rPr lang="en-US" sz="900">
                <a:solidFill>
                  <a:srgbClr val="800000"/>
                </a:solidFill>
                <a:latin typeface="Arial"/>
                <a:ea typeface="Arial"/>
                <a:cs typeface="Arial"/>
                <a:sym typeface="Arial"/>
              </a:rPr>
              <a:t>                SELECT CRMCustomerID, FirstName, LastName, Email, Phone</a:t>
            </a:r>
            <a:endParaRPr sz="900">
              <a:solidFill>
                <a:srgbClr val="800000"/>
              </a:solidFill>
              <a:latin typeface="Arial"/>
              <a:ea typeface="Arial"/>
              <a:cs typeface="Arial"/>
              <a:sym typeface="Arial"/>
            </a:endParaRPr>
          </a:p>
          <a:p>
            <a:pPr indent="0" lvl="0" marL="0" rtl="0" algn="l">
              <a:spcBef>
                <a:spcPts val="1200"/>
              </a:spcBef>
              <a:spcAft>
                <a:spcPts val="0"/>
              </a:spcAft>
              <a:buNone/>
            </a:pPr>
            <a:r>
              <a:rPr lang="en-US" sz="900">
                <a:solidFill>
                  <a:srgbClr val="800000"/>
                </a:solidFill>
                <a:latin typeface="Arial"/>
                <a:ea typeface="Arial"/>
                <a:cs typeface="Arial"/>
                <a:sym typeface="Arial"/>
              </a:rPr>
              <a:t>                FROM Customer</a:t>
            </a:r>
            <a:endParaRPr sz="900">
              <a:solidFill>
                <a:srgbClr val="800000"/>
              </a:solidFill>
              <a:latin typeface="Arial"/>
              <a:ea typeface="Arial"/>
              <a:cs typeface="Arial"/>
              <a:sym typeface="Arial"/>
            </a:endParaRPr>
          </a:p>
          <a:p>
            <a:pPr indent="0" lvl="0" marL="0" rtl="0" algn="l">
              <a:spcBef>
                <a:spcPts val="1200"/>
              </a:spcBef>
              <a:spcAft>
                <a:spcPts val="0"/>
              </a:spcAft>
              <a:buNone/>
            </a:pPr>
            <a:r>
              <a:rPr lang="en-US" sz="900">
                <a:solidFill>
                  <a:srgbClr val="800000"/>
                </a:solidFill>
                <a:latin typeface="Arial"/>
                <a:ea typeface="Arial"/>
                <a:cs typeface="Arial"/>
                <a:sym typeface="Arial"/>
              </a:rPr>
              <a:t>                WHERE CRMCustomerID = @CRMCustomerID"</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using</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SqlCommand</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SqlCommand</a:t>
            </a:r>
            <a:r>
              <a:rPr lang="en-US" sz="900">
                <a:solidFill>
                  <a:srgbClr val="1A94FF"/>
                </a:solidFill>
                <a:latin typeface="Arial"/>
                <a:ea typeface="Arial"/>
                <a:cs typeface="Arial"/>
                <a:sym typeface="Arial"/>
              </a:rPr>
              <a:t>(</a:t>
            </a:r>
            <a:r>
              <a:rPr lang="en-US" sz="900">
                <a:solidFill>
                  <a:srgbClr val="1F377F"/>
                </a:solidFill>
                <a:latin typeface="Arial"/>
                <a:ea typeface="Arial"/>
                <a:cs typeface="Arial"/>
                <a:sym typeface="Arial"/>
              </a:rPr>
              <a:t>sql</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conn</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.Parameters.</a:t>
            </a:r>
            <a:r>
              <a:rPr lang="en-US" sz="900">
                <a:solidFill>
                  <a:srgbClr val="74531F"/>
                </a:solidFill>
                <a:latin typeface="Arial"/>
                <a:ea typeface="Arial"/>
                <a:cs typeface="Arial"/>
                <a:sym typeface="Arial"/>
              </a:rPr>
              <a:t>AddWithValue</a:t>
            </a:r>
            <a:r>
              <a:rPr lang="en-US" sz="900">
                <a:solidFill>
                  <a:srgbClr val="1A94FF"/>
                </a:solidFill>
                <a:latin typeface="Arial"/>
                <a:ea typeface="Arial"/>
                <a:cs typeface="Arial"/>
                <a:sym typeface="Arial"/>
              </a:rPr>
              <a:t>(</a:t>
            </a:r>
            <a:r>
              <a:rPr lang="en-US" sz="900">
                <a:solidFill>
                  <a:srgbClr val="A31515"/>
                </a:solidFill>
                <a:latin typeface="Arial"/>
                <a:ea typeface="Arial"/>
                <a:cs typeface="Arial"/>
                <a:sym typeface="Arial"/>
              </a:rPr>
              <a:t>"@CRMCustomerID"</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crmId</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conn</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Open</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using</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SqlDataReader</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reader</a:t>
            </a:r>
            <a:r>
              <a:rPr lang="en-US" sz="900">
                <a:solidFill>
                  <a:srgbClr val="000000"/>
                </a:solidFill>
                <a:latin typeface="Arial"/>
                <a:ea typeface="Arial"/>
                <a:cs typeface="Arial"/>
                <a:sym typeface="Arial"/>
              </a:rPr>
              <a:t> =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ExecuteReader</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if</a:t>
            </a:r>
            <a:r>
              <a:rPr lang="en-US" sz="900">
                <a:solidFill>
                  <a:srgbClr val="000000"/>
                </a:solidFill>
                <a:latin typeface="Arial"/>
                <a:ea typeface="Arial"/>
                <a:cs typeface="Arial"/>
                <a:sym typeface="Arial"/>
              </a:rPr>
              <a:t> </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r>
              <a:rPr lang="en-US" sz="900">
                <a:solidFill>
                  <a:srgbClr val="1F377F"/>
                </a:solidFill>
                <a:latin typeface="Arial"/>
                <a:ea typeface="Arial"/>
                <a:cs typeface="Arial"/>
                <a:sym typeface="Arial"/>
              </a:rPr>
              <a:t>reader</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Read</a:t>
            </a:r>
            <a:r>
              <a:rPr lang="en-US" sz="900">
                <a:solidFill>
                  <a:srgbClr val="FFD702"/>
                </a:solidFill>
                <a:latin typeface="Arial"/>
                <a:ea typeface="Arial"/>
                <a:cs typeface="Arial"/>
                <a:sym typeface="Arial"/>
              </a:rPr>
              <a:t>()</a:t>
            </a:r>
            <a:r>
              <a:rPr lang="en-US" sz="900">
                <a:solidFill>
                  <a:srgbClr val="1A94FF"/>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return</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NotFound</a:t>
            </a:r>
            <a:r>
              <a:rPr lang="en-US" sz="900">
                <a:solidFill>
                  <a:srgbClr val="1A94FF"/>
                </a:solidFill>
                <a:latin typeface="Arial"/>
                <a:ea typeface="Arial"/>
                <a:cs typeface="Arial"/>
                <a:sym typeface="Arial"/>
              </a:rPr>
              <a:t>(</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Message = </a:t>
            </a:r>
            <a:r>
              <a:rPr lang="en-US" sz="900">
                <a:solidFill>
                  <a:srgbClr val="A31515"/>
                </a:solidFill>
                <a:latin typeface="Arial"/>
                <a:ea typeface="Arial"/>
                <a:cs typeface="Arial"/>
                <a:sym typeface="Arial"/>
              </a:rPr>
              <a:t>"Customer not found"</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return</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Ok</a:t>
            </a:r>
            <a:r>
              <a:rPr lang="en-US" sz="900">
                <a:solidFill>
                  <a:srgbClr val="1A94FF"/>
                </a:solidFill>
                <a:latin typeface="Arial"/>
                <a:ea typeface="Arial"/>
                <a:cs typeface="Arial"/>
                <a:sym typeface="Arial"/>
              </a:rPr>
              <a:t>(</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CustomerDto</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CustomerId = </a:t>
            </a:r>
            <a:r>
              <a:rPr lang="en-US" sz="900">
                <a:solidFill>
                  <a:srgbClr val="1F377F"/>
                </a:solidFill>
                <a:latin typeface="Arial"/>
                <a:ea typeface="Arial"/>
                <a:cs typeface="Arial"/>
                <a:sym typeface="Arial"/>
              </a:rPr>
              <a:t>reader</a:t>
            </a:r>
            <a:r>
              <a:rPr lang="en-US" sz="900">
                <a:solidFill>
                  <a:srgbClr val="D86AC2"/>
                </a:solidFill>
                <a:latin typeface="Arial"/>
                <a:ea typeface="Arial"/>
                <a:cs typeface="Arial"/>
                <a:sym typeface="Arial"/>
              </a:rPr>
              <a:t>[</a:t>
            </a:r>
            <a:r>
              <a:rPr lang="en-US" sz="900">
                <a:solidFill>
                  <a:srgbClr val="A31515"/>
                </a:solidFill>
                <a:latin typeface="Arial"/>
                <a:ea typeface="Arial"/>
                <a:cs typeface="Arial"/>
                <a:sym typeface="Arial"/>
              </a:rPr>
              <a:t>"CRMCustomerID"</a:t>
            </a:r>
            <a:r>
              <a:rPr lang="en-US" sz="900">
                <a:solidFill>
                  <a:srgbClr val="D86AC2"/>
                </a:solidFill>
                <a:latin typeface="Arial"/>
                <a:ea typeface="Arial"/>
                <a:cs typeface="Arial"/>
                <a:sym typeface="Arial"/>
              </a:rPr>
              <a:t>]</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ToString</a:t>
            </a:r>
            <a:r>
              <a:rPr lang="en-US" sz="900">
                <a:solidFill>
                  <a:srgbClr val="D86AC2"/>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FirstName = </a:t>
            </a:r>
            <a:r>
              <a:rPr lang="en-US" sz="900">
                <a:solidFill>
                  <a:srgbClr val="1F377F"/>
                </a:solidFill>
                <a:latin typeface="Arial"/>
                <a:ea typeface="Arial"/>
                <a:cs typeface="Arial"/>
                <a:sym typeface="Arial"/>
              </a:rPr>
              <a:t>reader</a:t>
            </a:r>
            <a:r>
              <a:rPr lang="en-US" sz="900">
                <a:solidFill>
                  <a:srgbClr val="D86AC2"/>
                </a:solidFill>
                <a:latin typeface="Arial"/>
                <a:ea typeface="Arial"/>
                <a:cs typeface="Arial"/>
                <a:sym typeface="Arial"/>
              </a:rPr>
              <a:t>[</a:t>
            </a:r>
            <a:r>
              <a:rPr lang="en-US" sz="900">
                <a:solidFill>
                  <a:srgbClr val="A31515"/>
                </a:solidFill>
                <a:latin typeface="Arial"/>
                <a:ea typeface="Arial"/>
                <a:cs typeface="Arial"/>
                <a:sym typeface="Arial"/>
              </a:rPr>
              <a:t>"FirstName"</a:t>
            </a:r>
            <a:r>
              <a:rPr lang="en-US" sz="900">
                <a:solidFill>
                  <a:srgbClr val="D86AC2"/>
                </a:solidFill>
                <a:latin typeface="Arial"/>
                <a:ea typeface="Arial"/>
                <a:cs typeface="Arial"/>
                <a:sym typeface="Arial"/>
              </a:rPr>
              <a:t>]</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ToString</a:t>
            </a:r>
            <a:r>
              <a:rPr lang="en-US" sz="900">
                <a:solidFill>
                  <a:srgbClr val="D86AC2"/>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LastName = </a:t>
            </a:r>
            <a:r>
              <a:rPr lang="en-US" sz="900">
                <a:solidFill>
                  <a:srgbClr val="1F377F"/>
                </a:solidFill>
                <a:latin typeface="Arial"/>
                <a:ea typeface="Arial"/>
                <a:cs typeface="Arial"/>
                <a:sym typeface="Arial"/>
              </a:rPr>
              <a:t>reader</a:t>
            </a:r>
            <a:r>
              <a:rPr lang="en-US" sz="900">
                <a:solidFill>
                  <a:srgbClr val="D86AC2"/>
                </a:solidFill>
                <a:latin typeface="Arial"/>
                <a:ea typeface="Arial"/>
                <a:cs typeface="Arial"/>
                <a:sym typeface="Arial"/>
              </a:rPr>
              <a:t>[</a:t>
            </a:r>
            <a:r>
              <a:rPr lang="en-US" sz="900">
                <a:solidFill>
                  <a:srgbClr val="A31515"/>
                </a:solidFill>
                <a:latin typeface="Arial"/>
                <a:ea typeface="Arial"/>
                <a:cs typeface="Arial"/>
                <a:sym typeface="Arial"/>
              </a:rPr>
              <a:t>"LastName"</a:t>
            </a:r>
            <a:r>
              <a:rPr lang="en-US" sz="900">
                <a:solidFill>
                  <a:srgbClr val="D86AC2"/>
                </a:solidFill>
                <a:latin typeface="Arial"/>
                <a:ea typeface="Arial"/>
                <a:cs typeface="Arial"/>
                <a:sym typeface="Arial"/>
              </a:rPr>
              <a:t>]</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ToString</a:t>
            </a:r>
            <a:r>
              <a:rPr lang="en-US" sz="900">
                <a:solidFill>
                  <a:srgbClr val="D86AC2"/>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Email = </a:t>
            </a:r>
            <a:r>
              <a:rPr lang="en-US" sz="900">
                <a:solidFill>
                  <a:srgbClr val="1F377F"/>
                </a:solidFill>
                <a:latin typeface="Arial"/>
                <a:ea typeface="Arial"/>
                <a:cs typeface="Arial"/>
                <a:sym typeface="Arial"/>
              </a:rPr>
              <a:t>reader</a:t>
            </a:r>
            <a:r>
              <a:rPr lang="en-US" sz="900">
                <a:solidFill>
                  <a:srgbClr val="D86AC2"/>
                </a:solidFill>
                <a:latin typeface="Arial"/>
                <a:ea typeface="Arial"/>
                <a:cs typeface="Arial"/>
                <a:sym typeface="Arial"/>
              </a:rPr>
              <a:t>[</a:t>
            </a:r>
            <a:r>
              <a:rPr lang="en-US" sz="900">
                <a:solidFill>
                  <a:srgbClr val="A31515"/>
                </a:solidFill>
                <a:latin typeface="Arial"/>
                <a:ea typeface="Arial"/>
                <a:cs typeface="Arial"/>
                <a:sym typeface="Arial"/>
              </a:rPr>
              <a:t>"Email"</a:t>
            </a:r>
            <a:r>
              <a:rPr lang="en-US" sz="900">
                <a:solidFill>
                  <a:srgbClr val="D86AC2"/>
                </a:solidFill>
                <a:latin typeface="Arial"/>
                <a:ea typeface="Arial"/>
                <a:cs typeface="Arial"/>
                <a:sym typeface="Arial"/>
              </a:rPr>
              <a:t>]</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ToString</a:t>
            </a:r>
            <a:r>
              <a:rPr lang="en-US" sz="900">
                <a:solidFill>
                  <a:srgbClr val="D86AC2"/>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Phone = </a:t>
            </a:r>
            <a:r>
              <a:rPr lang="en-US" sz="900">
                <a:solidFill>
                  <a:srgbClr val="1F377F"/>
                </a:solidFill>
                <a:latin typeface="Arial"/>
                <a:ea typeface="Arial"/>
                <a:cs typeface="Arial"/>
                <a:sym typeface="Arial"/>
              </a:rPr>
              <a:t>reader</a:t>
            </a:r>
            <a:r>
              <a:rPr lang="en-US" sz="900">
                <a:solidFill>
                  <a:srgbClr val="D86AC2"/>
                </a:solidFill>
                <a:latin typeface="Arial"/>
                <a:ea typeface="Arial"/>
                <a:cs typeface="Arial"/>
                <a:sym typeface="Arial"/>
              </a:rPr>
              <a:t>[</a:t>
            </a:r>
            <a:r>
              <a:rPr lang="en-US" sz="900">
                <a:solidFill>
                  <a:srgbClr val="A31515"/>
                </a:solidFill>
                <a:latin typeface="Arial"/>
                <a:ea typeface="Arial"/>
                <a:cs typeface="Arial"/>
                <a:sym typeface="Arial"/>
              </a:rPr>
              <a:t>"Phone"</a:t>
            </a:r>
            <a:r>
              <a:rPr lang="en-US" sz="900">
                <a:solidFill>
                  <a:srgbClr val="D86AC2"/>
                </a:solidFill>
                <a:latin typeface="Arial"/>
                <a:ea typeface="Arial"/>
                <a:cs typeface="Arial"/>
                <a:sym typeface="Arial"/>
              </a:rPr>
              <a:t>]</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ToString</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catch</a:t>
            </a: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r>
              <a:rPr lang="en-US" sz="900">
                <a:solidFill>
                  <a:srgbClr val="2B91AF"/>
                </a:solidFill>
                <a:latin typeface="Arial"/>
                <a:ea typeface="Arial"/>
                <a:cs typeface="Arial"/>
                <a:sym typeface="Arial"/>
              </a:rPr>
              <a:t>Exception</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ex</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return</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StatusCode</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500, </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Error = </a:t>
            </a:r>
            <a:r>
              <a:rPr lang="en-US" sz="900">
                <a:solidFill>
                  <a:srgbClr val="1F377F"/>
                </a:solidFill>
                <a:latin typeface="Arial"/>
                <a:ea typeface="Arial"/>
                <a:cs typeface="Arial"/>
                <a:sym typeface="Arial"/>
              </a:rPr>
              <a:t>ex</a:t>
            </a:r>
            <a:r>
              <a:rPr lang="en-US" sz="900">
                <a:solidFill>
                  <a:srgbClr val="000000"/>
                </a:solidFill>
                <a:latin typeface="Arial"/>
                <a:ea typeface="Arial"/>
                <a:cs typeface="Arial"/>
                <a:sym typeface="Arial"/>
              </a:rPr>
              <a:t>.Message </a:t>
            </a:r>
            <a:r>
              <a:rPr lang="en-US" sz="900">
                <a:solidFill>
                  <a:srgbClr val="FFD702"/>
                </a:solidFill>
                <a:latin typeface="Arial"/>
                <a:ea typeface="Arial"/>
                <a:cs typeface="Arial"/>
                <a:sym typeface="Arial"/>
              </a:rPr>
              <a:t>}</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8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8000"/>
                </a:solidFill>
                <a:latin typeface="Arial"/>
                <a:ea typeface="Arial"/>
                <a:cs typeface="Arial"/>
                <a:sym typeface="Arial"/>
              </a:rPr>
              <a:t>// NEW: UPDATE CUSTOMER</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8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2B91AF"/>
                </a:solidFill>
                <a:latin typeface="Arial"/>
                <a:ea typeface="Arial"/>
                <a:cs typeface="Arial"/>
                <a:sym typeface="Arial"/>
              </a:rPr>
              <a:t>HttpPut</a:t>
            </a:r>
            <a:r>
              <a:rPr lang="en-US" sz="900">
                <a:solidFill>
                  <a:srgbClr val="D86AC2"/>
                </a:solidFill>
                <a:latin typeface="Arial"/>
                <a:ea typeface="Arial"/>
                <a:cs typeface="Arial"/>
                <a:sym typeface="Arial"/>
              </a:rPr>
              <a:t>(</a:t>
            </a:r>
            <a:r>
              <a:rPr lang="en-US" sz="900">
                <a:solidFill>
                  <a:srgbClr val="A31515"/>
                </a:solidFill>
                <a:latin typeface="Arial"/>
                <a:ea typeface="Arial"/>
                <a:cs typeface="Arial"/>
                <a:sym typeface="Arial"/>
              </a:rPr>
              <a:t>"update"</a:t>
            </a:r>
            <a:r>
              <a:rPr lang="en-US" sz="900">
                <a:solidFill>
                  <a:srgbClr val="D86AC2"/>
                </a:solidFill>
                <a:latin typeface="Arial"/>
                <a:ea typeface="Arial"/>
                <a:cs typeface="Arial"/>
                <a:sym typeface="Arial"/>
              </a:rPr>
              <a:t>)</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public</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IActionResult</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UpdateCustomer</a:t>
            </a:r>
            <a:r>
              <a:rPr lang="en-US" sz="900">
                <a:solidFill>
                  <a:srgbClr val="FFD702"/>
                </a:solidFill>
                <a:latin typeface="Arial"/>
                <a:ea typeface="Arial"/>
                <a:cs typeface="Arial"/>
                <a:sym typeface="Arial"/>
              </a:rPr>
              <a:t>(</a:t>
            </a:r>
            <a:r>
              <a:rPr lang="en-US" sz="900">
                <a:solidFill>
                  <a:srgbClr val="D86AC2"/>
                </a:solidFill>
                <a:latin typeface="Arial"/>
                <a:ea typeface="Arial"/>
                <a:cs typeface="Arial"/>
                <a:sym typeface="Arial"/>
              </a:rPr>
              <a:t>[</a:t>
            </a:r>
            <a:r>
              <a:rPr lang="en-US" sz="900">
                <a:solidFill>
                  <a:srgbClr val="2B91AF"/>
                </a:solidFill>
                <a:latin typeface="Arial"/>
                <a:ea typeface="Arial"/>
                <a:cs typeface="Arial"/>
                <a:sym typeface="Arial"/>
              </a:rPr>
              <a:t>FromBody</a:t>
            </a:r>
            <a:r>
              <a:rPr lang="en-US" sz="900">
                <a:solidFill>
                  <a:srgbClr val="D86AC2"/>
                </a:solidFill>
                <a:latin typeface="Arial"/>
                <a:ea typeface="Arial"/>
                <a:cs typeface="Arial"/>
                <a:sym typeface="Arial"/>
              </a:rPr>
              <a:t>]</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CustomerDto</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customer</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if</a:t>
            </a: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r>
              <a:rPr lang="en-US" sz="900">
                <a:solidFill>
                  <a:srgbClr val="1F377F"/>
                </a:solidFill>
                <a:latin typeface="Arial"/>
                <a:ea typeface="Arial"/>
                <a:cs typeface="Arial"/>
                <a:sym typeface="Arial"/>
              </a:rPr>
              <a:t>customer</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null</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IsNullOrEmpty</a:t>
            </a:r>
            <a:r>
              <a:rPr lang="en-US" sz="900">
                <a:solidFill>
                  <a:srgbClr val="1A94FF"/>
                </a:solidFill>
                <a:latin typeface="Arial"/>
                <a:ea typeface="Arial"/>
                <a:cs typeface="Arial"/>
                <a:sym typeface="Arial"/>
              </a:rPr>
              <a:t>(</a:t>
            </a:r>
            <a:r>
              <a:rPr lang="en-US" sz="900">
                <a:solidFill>
                  <a:srgbClr val="1F377F"/>
                </a:solidFill>
                <a:latin typeface="Arial"/>
                <a:ea typeface="Arial"/>
                <a:cs typeface="Arial"/>
                <a:sym typeface="Arial"/>
              </a:rPr>
              <a:t>customer</a:t>
            </a:r>
            <a:r>
              <a:rPr lang="en-US" sz="900">
                <a:solidFill>
                  <a:srgbClr val="000000"/>
                </a:solidFill>
                <a:latin typeface="Arial"/>
                <a:ea typeface="Arial"/>
                <a:cs typeface="Arial"/>
                <a:sym typeface="Arial"/>
              </a:rPr>
              <a:t>.CustomerId</a:t>
            </a:r>
            <a:r>
              <a:rPr lang="en-US" sz="900">
                <a:solidFill>
                  <a:srgbClr val="1A94FF"/>
                </a:solidFill>
                <a:latin typeface="Arial"/>
                <a:ea typeface="Arial"/>
                <a:cs typeface="Arial"/>
                <a:sym typeface="Arial"/>
              </a:rPr>
              <a:t>)</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return</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BadRequest</a:t>
            </a:r>
            <a:r>
              <a:rPr lang="en-US" sz="900">
                <a:solidFill>
                  <a:srgbClr val="D86AC2"/>
                </a:solidFill>
                <a:latin typeface="Arial"/>
                <a:ea typeface="Arial"/>
                <a:cs typeface="Arial"/>
                <a:sym typeface="Arial"/>
              </a:rPr>
              <a:t>(</a:t>
            </a:r>
            <a:r>
              <a:rPr lang="en-US" sz="900">
                <a:solidFill>
                  <a:srgbClr val="A31515"/>
                </a:solidFill>
                <a:latin typeface="Arial"/>
                <a:ea typeface="Arial"/>
                <a:cs typeface="Arial"/>
                <a:sym typeface="Arial"/>
              </a:rPr>
              <a:t>"Invalid customer data"</a:t>
            </a:r>
            <a:r>
              <a:rPr lang="en-US" sz="900">
                <a:solidFill>
                  <a:srgbClr val="D86AC2"/>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try</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using</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SqlConnection</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conn</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SqlConnection</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_connectionString</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sql</a:t>
            </a:r>
            <a:r>
              <a:rPr lang="en-US" sz="900">
                <a:solidFill>
                  <a:srgbClr val="000000"/>
                </a:solidFill>
                <a:latin typeface="Arial"/>
                <a:ea typeface="Arial"/>
                <a:cs typeface="Arial"/>
                <a:sym typeface="Arial"/>
              </a:rPr>
              <a:t> = </a:t>
            </a:r>
            <a:r>
              <a:rPr lang="en-US" sz="900">
                <a:solidFill>
                  <a:srgbClr val="800000"/>
                </a:solidFill>
                <a:latin typeface="Arial"/>
                <a:ea typeface="Arial"/>
                <a:cs typeface="Arial"/>
                <a:sym typeface="Arial"/>
              </a:rPr>
              <a:t>@"</a:t>
            </a:r>
            <a:endParaRPr sz="900">
              <a:solidFill>
                <a:srgbClr val="800000"/>
              </a:solidFill>
              <a:latin typeface="Arial"/>
              <a:ea typeface="Arial"/>
              <a:cs typeface="Arial"/>
              <a:sym typeface="Arial"/>
            </a:endParaRPr>
          </a:p>
          <a:p>
            <a:pPr indent="0" lvl="0" marL="0" rtl="0" algn="l">
              <a:spcBef>
                <a:spcPts val="1200"/>
              </a:spcBef>
              <a:spcAft>
                <a:spcPts val="0"/>
              </a:spcAft>
              <a:buNone/>
            </a:pPr>
            <a:r>
              <a:rPr lang="en-US" sz="900">
                <a:solidFill>
                  <a:srgbClr val="800000"/>
                </a:solidFill>
                <a:latin typeface="Arial"/>
                <a:ea typeface="Arial"/>
                <a:cs typeface="Arial"/>
                <a:sym typeface="Arial"/>
              </a:rPr>
              <a:t>                UPDATE Customer</a:t>
            </a:r>
            <a:endParaRPr sz="900">
              <a:solidFill>
                <a:srgbClr val="800000"/>
              </a:solidFill>
              <a:latin typeface="Arial"/>
              <a:ea typeface="Arial"/>
              <a:cs typeface="Arial"/>
              <a:sym typeface="Arial"/>
            </a:endParaRPr>
          </a:p>
          <a:p>
            <a:pPr indent="0" lvl="0" marL="0" rtl="0" algn="l">
              <a:spcBef>
                <a:spcPts val="1200"/>
              </a:spcBef>
              <a:spcAft>
                <a:spcPts val="0"/>
              </a:spcAft>
              <a:buNone/>
            </a:pPr>
            <a:r>
              <a:rPr lang="en-US" sz="900">
                <a:solidFill>
                  <a:srgbClr val="800000"/>
                </a:solidFill>
                <a:latin typeface="Arial"/>
                <a:ea typeface="Arial"/>
                <a:cs typeface="Arial"/>
                <a:sym typeface="Arial"/>
              </a:rPr>
              <a:t>                SET FirstName = @FirstName,</a:t>
            </a:r>
            <a:endParaRPr sz="900">
              <a:solidFill>
                <a:srgbClr val="800000"/>
              </a:solidFill>
              <a:latin typeface="Arial"/>
              <a:ea typeface="Arial"/>
              <a:cs typeface="Arial"/>
              <a:sym typeface="Arial"/>
            </a:endParaRPr>
          </a:p>
          <a:p>
            <a:pPr indent="0" lvl="0" marL="0" rtl="0" algn="l">
              <a:spcBef>
                <a:spcPts val="1200"/>
              </a:spcBef>
              <a:spcAft>
                <a:spcPts val="0"/>
              </a:spcAft>
              <a:buNone/>
            </a:pPr>
            <a:r>
              <a:rPr lang="en-US" sz="900">
                <a:solidFill>
                  <a:srgbClr val="800000"/>
                </a:solidFill>
                <a:latin typeface="Arial"/>
                <a:ea typeface="Arial"/>
                <a:cs typeface="Arial"/>
                <a:sym typeface="Arial"/>
              </a:rPr>
              <a:t>                    LastName = @LastName,</a:t>
            </a:r>
            <a:endParaRPr sz="900">
              <a:solidFill>
                <a:srgbClr val="800000"/>
              </a:solidFill>
              <a:latin typeface="Arial"/>
              <a:ea typeface="Arial"/>
              <a:cs typeface="Arial"/>
              <a:sym typeface="Arial"/>
            </a:endParaRPr>
          </a:p>
          <a:p>
            <a:pPr indent="0" lvl="0" marL="0" rtl="0" algn="l">
              <a:spcBef>
                <a:spcPts val="1200"/>
              </a:spcBef>
              <a:spcAft>
                <a:spcPts val="0"/>
              </a:spcAft>
              <a:buNone/>
            </a:pPr>
            <a:r>
              <a:rPr lang="en-US" sz="900">
                <a:solidFill>
                  <a:srgbClr val="800000"/>
                </a:solidFill>
                <a:latin typeface="Arial"/>
                <a:ea typeface="Arial"/>
                <a:cs typeface="Arial"/>
                <a:sym typeface="Arial"/>
              </a:rPr>
              <a:t>                    Email = @Email,</a:t>
            </a:r>
            <a:endParaRPr sz="900">
              <a:solidFill>
                <a:srgbClr val="800000"/>
              </a:solidFill>
              <a:latin typeface="Arial"/>
              <a:ea typeface="Arial"/>
              <a:cs typeface="Arial"/>
              <a:sym typeface="Arial"/>
            </a:endParaRPr>
          </a:p>
          <a:p>
            <a:pPr indent="0" lvl="0" marL="0" rtl="0" algn="l">
              <a:spcBef>
                <a:spcPts val="1200"/>
              </a:spcBef>
              <a:spcAft>
                <a:spcPts val="0"/>
              </a:spcAft>
              <a:buNone/>
            </a:pPr>
            <a:r>
              <a:rPr lang="en-US" sz="900">
                <a:solidFill>
                  <a:srgbClr val="800000"/>
                </a:solidFill>
                <a:latin typeface="Arial"/>
                <a:ea typeface="Arial"/>
                <a:cs typeface="Arial"/>
                <a:sym typeface="Arial"/>
              </a:rPr>
              <a:t>                    Phone = @Phone</a:t>
            </a:r>
            <a:endParaRPr sz="900">
              <a:solidFill>
                <a:srgbClr val="800000"/>
              </a:solidFill>
              <a:latin typeface="Arial"/>
              <a:ea typeface="Arial"/>
              <a:cs typeface="Arial"/>
              <a:sym typeface="Arial"/>
            </a:endParaRPr>
          </a:p>
          <a:p>
            <a:pPr indent="0" lvl="0" marL="0" rtl="0" algn="l">
              <a:spcBef>
                <a:spcPts val="1200"/>
              </a:spcBef>
              <a:spcAft>
                <a:spcPts val="0"/>
              </a:spcAft>
              <a:buNone/>
            </a:pPr>
            <a:r>
              <a:rPr lang="en-US" sz="900">
                <a:solidFill>
                  <a:srgbClr val="800000"/>
                </a:solidFill>
                <a:latin typeface="Arial"/>
                <a:ea typeface="Arial"/>
                <a:cs typeface="Arial"/>
                <a:sym typeface="Arial"/>
              </a:rPr>
              <a:t>                WHERE CRMCustomerID = @CRMCustomerID"</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using</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SqlCommand</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SqlCommand</a:t>
            </a:r>
            <a:r>
              <a:rPr lang="en-US" sz="900">
                <a:solidFill>
                  <a:srgbClr val="1A94FF"/>
                </a:solidFill>
                <a:latin typeface="Arial"/>
                <a:ea typeface="Arial"/>
                <a:cs typeface="Arial"/>
                <a:sym typeface="Arial"/>
              </a:rPr>
              <a:t>(</a:t>
            </a:r>
            <a:r>
              <a:rPr lang="en-US" sz="900">
                <a:solidFill>
                  <a:srgbClr val="1F377F"/>
                </a:solidFill>
                <a:latin typeface="Arial"/>
                <a:ea typeface="Arial"/>
                <a:cs typeface="Arial"/>
                <a:sym typeface="Arial"/>
              </a:rPr>
              <a:t>sql</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conn</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.Parameters.</a:t>
            </a:r>
            <a:r>
              <a:rPr lang="en-US" sz="900">
                <a:solidFill>
                  <a:srgbClr val="74531F"/>
                </a:solidFill>
                <a:latin typeface="Arial"/>
                <a:ea typeface="Arial"/>
                <a:cs typeface="Arial"/>
                <a:sym typeface="Arial"/>
              </a:rPr>
              <a:t>AddWithValue</a:t>
            </a:r>
            <a:r>
              <a:rPr lang="en-US" sz="900">
                <a:solidFill>
                  <a:srgbClr val="1A94FF"/>
                </a:solidFill>
                <a:latin typeface="Arial"/>
                <a:ea typeface="Arial"/>
                <a:cs typeface="Arial"/>
                <a:sym typeface="Arial"/>
              </a:rPr>
              <a:t>(</a:t>
            </a:r>
            <a:r>
              <a:rPr lang="en-US" sz="900">
                <a:solidFill>
                  <a:srgbClr val="A31515"/>
                </a:solidFill>
                <a:latin typeface="Arial"/>
                <a:ea typeface="Arial"/>
                <a:cs typeface="Arial"/>
                <a:sym typeface="Arial"/>
              </a:rPr>
              <a:t>"@CRMCustomerID"</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customer</a:t>
            </a:r>
            <a:r>
              <a:rPr lang="en-US" sz="900">
                <a:solidFill>
                  <a:srgbClr val="000000"/>
                </a:solidFill>
                <a:latin typeface="Arial"/>
                <a:ea typeface="Arial"/>
                <a:cs typeface="Arial"/>
                <a:sym typeface="Arial"/>
              </a:rPr>
              <a:t>.CustomerId</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.Parameters.</a:t>
            </a:r>
            <a:r>
              <a:rPr lang="en-US" sz="900">
                <a:solidFill>
                  <a:srgbClr val="74531F"/>
                </a:solidFill>
                <a:latin typeface="Arial"/>
                <a:ea typeface="Arial"/>
                <a:cs typeface="Arial"/>
                <a:sym typeface="Arial"/>
              </a:rPr>
              <a:t>AddWithValue</a:t>
            </a:r>
            <a:r>
              <a:rPr lang="en-US" sz="900">
                <a:solidFill>
                  <a:srgbClr val="1A94FF"/>
                </a:solidFill>
                <a:latin typeface="Arial"/>
                <a:ea typeface="Arial"/>
                <a:cs typeface="Arial"/>
                <a:sym typeface="Arial"/>
              </a:rPr>
              <a:t>(</a:t>
            </a:r>
            <a:r>
              <a:rPr lang="en-US" sz="900">
                <a:solidFill>
                  <a:srgbClr val="A31515"/>
                </a:solidFill>
                <a:latin typeface="Arial"/>
                <a:ea typeface="Arial"/>
                <a:cs typeface="Arial"/>
                <a:sym typeface="Arial"/>
              </a:rPr>
              <a:t>"@FirstName"</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customer</a:t>
            </a:r>
            <a:r>
              <a:rPr lang="en-US" sz="900">
                <a:solidFill>
                  <a:srgbClr val="000000"/>
                </a:solidFill>
                <a:latin typeface="Arial"/>
                <a:ea typeface="Arial"/>
                <a:cs typeface="Arial"/>
                <a:sym typeface="Arial"/>
              </a:rPr>
              <a:t>.FirstName</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.Parameters.</a:t>
            </a:r>
            <a:r>
              <a:rPr lang="en-US" sz="900">
                <a:solidFill>
                  <a:srgbClr val="74531F"/>
                </a:solidFill>
                <a:latin typeface="Arial"/>
                <a:ea typeface="Arial"/>
                <a:cs typeface="Arial"/>
                <a:sym typeface="Arial"/>
              </a:rPr>
              <a:t>AddWithValue</a:t>
            </a:r>
            <a:r>
              <a:rPr lang="en-US" sz="900">
                <a:solidFill>
                  <a:srgbClr val="1A94FF"/>
                </a:solidFill>
                <a:latin typeface="Arial"/>
                <a:ea typeface="Arial"/>
                <a:cs typeface="Arial"/>
                <a:sym typeface="Arial"/>
              </a:rPr>
              <a:t>(</a:t>
            </a:r>
            <a:r>
              <a:rPr lang="en-US" sz="900">
                <a:solidFill>
                  <a:srgbClr val="A31515"/>
                </a:solidFill>
                <a:latin typeface="Arial"/>
                <a:ea typeface="Arial"/>
                <a:cs typeface="Arial"/>
                <a:sym typeface="Arial"/>
              </a:rPr>
              <a:t>"@LastName"</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customer</a:t>
            </a:r>
            <a:r>
              <a:rPr lang="en-US" sz="900">
                <a:solidFill>
                  <a:srgbClr val="000000"/>
                </a:solidFill>
                <a:latin typeface="Arial"/>
                <a:ea typeface="Arial"/>
                <a:cs typeface="Arial"/>
                <a:sym typeface="Arial"/>
              </a:rPr>
              <a:t>.LastName</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.Parameters.</a:t>
            </a:r>
            <a:r>
              <a:rPr lang="en-US" sz="900">
                <a:solidFill>
                  <a:srgbClr val="74531F"/>
                </a:solidFill>
                <a:latin typeface="Arial"/>
                <a:ea typeface="Arial"/>
                <a:cs typeface="Arial"/>
                <a:sym typeface="Arial"/>
              </a:rPr>
              <a:t>AddWithValue</a:t>
            </a:r>
            <a:r>
              <a:rPr lang="en-US" sz="900">
                <a:solidFill>
                  <a:srgbClr val="1A94FF"/>
                </a:solidFill>
                <a:latin typeface="Arial"/>
                <a:ea typeface="Arial"/>
                <a:cs typeface="Arial"/>
                <a:sym typeface="Arial"/>
              </a:rPr>
              <a:t>(</a:t>
            </a:r>
            <a:r>
              <a:rPr lang="en-US" sz="900">
                <a:solidFill>
                  <a:srgbClr val="A31515"/>
                </a:solidFill>
                <a:latin typeface="Arial"/>
                <a:ea typeface="Arial"/>
                <a:cs typeface="Arial"/>
                <a:sym typeface="Arial"/>
              </a:rPr>
              <a:t>"@Email"</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customer</a:t>
            </a:r>
            <a:r>
              <a:rPr lang="en-US" sz="900">
                <a:solidFill>
                  <a:srgbClr val="000000"/>
                </a:solidFill>
                <a:latin typeface="Arial"/>
                <a:ea typeface="Arial"/>
                <a:cs typeface="Arial"/>
                <a:sym typeface="Arial"/>
              </a:rPr>
              <a:t>.Email</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.Parameters.</a:t>
            </a:r>
            <a:r>
              <a:rPr lang="en-US" sz="900">
                <a:solidFill>
                  <a:srgbClr val="74531F"/>
                </a:solidFill>
                <a:latin typeface="Arial"/>
                <a:ea typeface="Arial"/>
                <a:cs typeface="Arial"/>
                <a:sym typeface="Arial"/>
              </a:rPr>
              <a:t>AddWithValue</a:t>
            </a:r>
            <a:r>
              <a:rPr lang="en-US" sz="900">
                <a:solidFill>
                  <a:srgbClr val="1A94FF"/>
                </a:solidFill>
                <a:latin typeface="Arial"/>
                <a:ea typeface="Arial"/>
                <a:cs typeface="Arial"/>
                <a:sym typeface="Arial"/>
              </a:rPr>
              <a:t>(</a:t>
            </a:r>
            <a:r>
              <a:rPr lang="en-US" sz="900">
                <a:solidFill>
                  <a:srgbClr val="A31515"/>
                </a:solidFill>
                <a:latin typeface="Arial"/>
                <a:ea typeface="Arial"/>
                <a:cs typeface="Arial"/>
                <a:sym typeface="Arial"/>
              </a:rPr>
              <a:t>"@Phone"</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customer</a:t>
            </a:r>
            <a:r>
              <a:rPr lang="en-US" sz="900">
                <a:solidFill>
                  <a:srgbClr val="000000"/>
                </a:solidFill>
                <a:latin typeface="Arial"/>
                <a:ea typeface="Arial"/>
                <a:cs typeface="Arial"/>
                <a:sym typeface="Arial"/>
              </a:rPr>
              <a:t>.Phone</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conn</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Open</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int</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rows</a:t>
            </a:r>
            <a:r>
              <a:rPr lang="en-US" sz="900">
                <a:solidFill>
                  <a:srgbClr val="000000"/>
                </a:solidFill>
                <a:latin typeface="Arial"/>
                <a:ea typeface="Arial"/>
                <a:cs typeface="Arial"/>
                <a:sym typeface="Arial"/>
              </a:rPr>
              <a:t> =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ExecuteNonQuery</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if</a:t>
            </a:r>
            <a:r>
              <a:rPr lang="en-US" sz="900">
                <a:solidFill>
                  <a:srgbClr val="000000"/>
                </a:solidFill>
                <a:latin typeface="Arial"/>
                <a:ea typeface="Arial"/>
                <a:cs typeface="Arial"/>
                <a:sym typeface="Arial"/>
              </a:rPr>
              <a:t> </a:t>
            </a:r>
            <a:r>
              <a:rPr lang="en-US" sz="900">
                <a:solidFill>
                  <a:srgbClr val="1A94FF"/>
                </a:solidFill>
                <a:latin typeface="Arial"/>
                <a:ea typeface="Arial"/>
                <a:cs typeface="Arial"/>
                <a:sym typeface="Arial"/>
              </a:rPr>
              <a:t>(</a:t>
            </a:r>
            <a:r>
              <a:rPr lang="en-US" sz="900">
                <a:solidFill>
                  <a:srgbClr val="1F377F"/>
                </a:solidFill>
                <a:latin typeface="Arial"/>
                <a:ea typeface="Arial"/>
                <a:cs typeface="Arial"/>
                <a:sym typeface="Arial"/>
              </a:rPr>
              <a:t>rows</a:t>
            </a:r>
            <a:r>
              <a:rPr lang="en-US" sz="900">
                <a:solidFill>
                  <a:srgbClr val="000000"/>
                </a:solidFill>
                <a:latin typeface="Arial"/>
                <a:ea typeface="Arial"/>
                <a:cs typeface="Arial"/>
                <a:sym typeface="Arial"/>
              </a:rPr>
              <a:t> == 0</a:t>
            </a:r>
            <a:r>
              <a:rPr lang="en-US" sz="900">
                <a:solidFill>
                  <a:srgbClr val="1A94FF"/>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return</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NotFound</a:t>
            </a:r>
            <a:r>
              <a:rPr lang="en-US" sz="900">
                <a:solidFill>
                  <a:srgbClr val="1A94FF"/>
                </a:solidFill>
                <a:latin typeface="Arial"/>
                <a:ea typeface="Arial"/>
                <a:cs typeface="Arial"/>
                <a:sym typeface="Arial"/>
              </a:rPr>
              <a:t>(</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Message = </a:t>
            </a:r>
            <a:r>
              <a:rPr lang="en-US" sz="900">
                <a:solidFill>
                  <a:srgbClr val="A31515"/>
                </a:solidFill>
                <a:latin typeface="Arial"/>
                <a:ea typeface="Arial"/>
                <a:cs typeface="Arial"/>
                <a:sym typeface="Arial"/>
              </a:rPr>
              <a:t>"Customer not found"</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return</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Ok</a:t>
            </a:r>
            <a:r>
              <a:rPr lang="en-US" sz="900">
                <a:solidFill>
                  <a:srgbClr val="1A94FF"/>
                </a:solidFill>
                <a:latin typeface="Arial"/>
                <a:ea typeface="Arial"/>
                <a:cs typeface="Arial"/>
                <a:sym typeface="Arial"/>
              </a:rPr>
              <a:t>(</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Message = </a:t>
            </a:r>
            <a:r>
              <a:rPr lang="en-US" sz="900">
                <a:solidFill>
                  <a:srgbClr val="A31515"/>
                </a:solidFill>
                <a:latin typeface="Arial"/>
                <a:ea typeface="Arial"/>
                <a:cs typeface="Arial"/>
                <a:sym typeface="Arial"/>
              </a:rPr>
              <a:t>"Customer updated successfully"</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catch</a:t>
            </a: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r>
              <a:rPr lang="en-US" sz="900">
                <a:solidFill>
                  <a:srgbClr val="2B91AF"/>
                </a:solidFill>
                <a:latin typeface="Arial"/>
                <a:ea typeface="Arial"/>
                <a:cs typeface="Arial"/>
                <a:sym typeface="Arial"/>
              </a:rPr>
              <a:t>Exception</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ex</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return</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StatusCode</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500, </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Error = </a:t>
            </a:r>
            <a:r>
              <a:rPr lang="en-US" sz="900">
                <a:solidFill>
                  <a:srgbClr val="1F377F"/>
                </a:solidFill>
                <a:latin typeface="Arial"/>
                <a:ea typeface="Arial"/>
                <a:cs typeface="Arial"/>
                <a:sym typeface="Arial"/>
              </a:rPr>
              <a:t>ex</a:t>
            </a:r>
            <a:r>
              <a:rPr lang="en-US" sz="900">
                <a:solidFill>
                  <a:srgbClr val="000000"/>
                </a:solidFill>
                <a:latin typeface="Arial"/>
                <a:ea typeface="Arial"/>
                <a:cs typeface="Arial"/>
                <a:sym typeface="Arial"/>
              </a:rPr>
              <a:t>.Message </a:t>
            </a:r>
            <a:r>
              <a:rPr lang="en-US" sz="900">
                <a:solidFill>
                  <a:srgbClr val="FFD702"/>
                </a:solidFill>
                <a:latin typeface="Arial"/>
                <a:ea typeface="Arial"/>
                <a:cs typeface="Arial"/>
                <a:sym typeface="Arial"/>
              </a:rPr>
              <a:t>}</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8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8000"/>
                </a:solidFill>
                <a:latin typeface="Arial"/>
                <a:ea typeface="Arial"/>
                <a:cs typeface="Arial"/>
                <a:sym typeface="Arial"/>
              </a:rPr>
              <a:t>// NEW: SOFT DELETE CUSTOMER</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8000"/>
                </a:solidFill>
                <a:latin typeface="Arial"/>
                <a:ea typeface="Arial"/>
                <a:cs typeface="Arial"/>
                <a:sym typeface="Arial"/>
              </a:rPr>
              <a:t>//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2B91AF"/>
                </a:solidFill>
                <a:latin typeface="Arial"/>
                <a:ea typeface="Arial"/>
                <a:cs typeface="Arial"/>
                <a:sym typeface="Arial"/>
              </a:rPr>
              <a:t>HttpDelete</a:t>
            </a:r>
            <a:r>
              <a:rPr lang="en-US" sz="900">
                <a:solidFill>
                  <a:srgbClr val="D86AC2"/>
                </a:solidFill>
                <a:latin typeface="Arial"/>
                <a:ea typeface="Arial"/>
                <a:cs typeface="Arial"/>
                <a:sym typeface="Arial"/>
              </a:rPr>
              <a:t>(</a:t>
            </a:r>
            <a:r>
              <a:rPr lang="en-US" sz="900">
                <a:solidFill>
                  <a:srgbClr val="A31515"/>
                </a:solidFill>
                <a:latin typeface="Arial"/>
                <a:ea typeface="Arial"/>
                <a:cs typeface="Arial"/>
                <a:sym typeface="Arial"/>
              </a:rPr>
              <a:t>"</a:t>
            </a:r>
            <a:r>
              <a:rPr lang="en-US" sz="900">
                <a:solidFill>
                  <a:srgbClr val="0073FF"/>
                </a:solidFill>
                <a:latin typeface="Arial"/>
                <a:ea typeface="Arial"/>
                <a:cs typeface="Arial"/>
                <a:sym typeface="Arial"/>
              </a:rPr>
              <a:t>{</a:t>
            </a:r>
            <a:r>
              <a:rPr lang="en-US" sz="900">
                <a:solidFill>
                  <a:srgbClr val="000000"/>
                </a:solidFill>
                <a:latin typeface="Arial"/>
                <a:ea typeface="Arial"/>
                <a:cs typeface="Arial"/>
                <a:sym typeface="Arial"/>
              </a:rPr>
              <a:t>crmId</a:t>
            </a:r>
            <a:r>
              <a:rPr lang="en-US" sz="900">
                <a:solidFill>
                  <a:srgbClr val="0073FF"/>
                </a:solidFill>
                <a:latin typeface="Arial"/>
                <a:ea typeface="Arial"/>
                <a:cs typeface="Arial"/>
                <a:sym typeface="Arial"/>
              </a:rPr>
              <a:t>}</a:t>
            </a:r>
            <a:r>
              <a:rPr lang="en-US" sz="900">
                <a:solidFill>
                  <a:srgbClr val="A31515"/>
                </a:solidFill>
                <a:latin typeface="Arial"/>
                <a:ea typeface="Arial"/>
                <a:cs typeface="Arial"/>
                <a:sym typeface="Arial"/>
              </a:rPr>
              <a:t>"</a:t>
            </a:r>
            <a:r>
              <a:rPr lang="en-US" sz="900">
                <a:solidFill>
                  <a:srgbClr val="D86AC2"/>
                </a:solidFill>
                <a:latin typeface="Arial"/>
                <a:ea typeface="Arial"/>
                <a:cs typeface="Arial"/>
                <a:sym typeface="Arial"/>
              </a:rPr>
              <a:t>)</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public</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IActionResult</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DeleteCustomer</a:t>
            </a:r>
            <a:r>
              <a:rPr lang="en-US" sz="900">
                <a:solidFill>
                  <a:srgbClr val="FFD702"/>
                </a:solidFill>
                <a:latin typeface="Arial"/>
                <a:ea typeface="Arial"/>
                <a:cs typeface="Arial"/>
                <a:sym typeface="Arial"/>
              </a:rPr>
              <a:t>(</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crmId</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try</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using</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SqlConnection</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conn</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SqlConnection</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_connectionString</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string</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sql</a:t>
            </a:r>
            <a:r>
              <a:rPr lang="en-US" sz="900">
                <a:solidFill>
                  <a:srgbClr val="000000"/>
                </a:solidFill>
                <a:latin typeface="Arial"/>
                <a:ea typeface="Arial"/>
                <a:cs typeface="Arial"/>
                <a:sym typeface="Arial"/>
              </a:rPr>
              <a:t> = </a:t>
            </a:r>
            <a:r>
              <a:rPr lang="en-US" sz="900">
                <a:solidFill>
                  <a:srgbClr val="800000"/>
                </a:solidFill>
                <a:latin typeface="Arial"/>
                <a:ea typeface="Arial"/>
                <a:cs typeface="Arial"/>
                <a:sym typeface="Arial"/>
              </a:rPr>
              <a:t>@"</a:t>
            </a:r>
            <a:endParaRPr sz="900">
              <a:solidFill>
                <a:srgbClr val="800000"/>
              </a:solidFill>
              <a:latin typeface="Arial"/>
              <a:ea typeface="Arial"/>
              <a:cs typeface="Arial"/>
              <a:sym typeface="Arial"/>
            </a:endParaRPr>
          </a:p>
          <a:p>
            <a:pPr indent="0" lvl="0" marL="0" rtl="0" algn="l">
              <a:spcBef>
                <a:spcPts val="1200"/>
              </a:spcBef>
              <a:spcAft>
                <a:spcPts val="0"/>
              </a:spcAft>
              <a:buNone/>
            </a:pPr>
            <a:r>
              <a:rPr lang="en-US" sz="900">
                <a:solidFill>
                  <a:srgbClr val="800000"/>
                </a:solidFill>
                <a:latin typeface="Arial"/>
                <a:ea typeface="Arial"/>
                <a:cs typeface="Arial"/>
                <a:sym typeface="Arial"/>
              </a:rPr>
              <a:t>                UPDATE Customer</a:t>
            </a:r>
            <a:endParaRPr sz="900">
              <a:solidFill>
                <a:srgbClr val="800000"/>
              </a:solidFill>
              <a:latin typeface="Arial"/>
              <a:ea typeface="Arial"/>
              <a:cs typeface="Arial"/>
              <a:sym typeface="Arial"/>
            </a:endParaRPr>
          </a:p>
          <a:p>
            <a:pPr indent="0" lvl="0" marL="0" rtl="0" algn="l">
              <a:spcBef>
                <a:spcPts val="1200"/>
              </a:spcBef>
              <a:spcAft>
                <a:spcPts val="0"/>
              </a:spcAft>
              <a:buNone/>
            </a:pPr>
            <a:r>
              <a:rPr lang="en-US" sz="900">
                <a:solidFill>
                  <a:srgbClr val="800000"/>
                </a:solidFill>
                <a:latin typeface="Arial"/>
                <a:ea typeface="Arial"/>
                <a:cs typeface="Arial"/>
                <a:sym typeface="Arial"/>
              </a:rPr>
              <a:t>                SET IsDeleted = 1</a:t>
            </a:r>
            <a:endParaRPr sz="900">
              <a:solidFill>
                <a:srgbClr val="800000"/>
              </a:solidFill>
              <a:latin typeface="Arial"/>
              <a:ea typeface="Arial"/>
              <a:cs typeface="Arial"/>
              <a:sym typeface="Arial"/>
            </a:endParaRPr>
          </a:p>
          <a:p>
            <a:pPr indent="0" lvl="0" marL="0" rtl="0" algn="l">
              <a:spcBef>
                <a:spcPts val="1200"/>
              </a:spcBef>
              <a:spcAft>
                <a:spcPts val="0"/>
              </a:spcAft>
              <a:buNone/>
            </a:pPr>
            <a:r>
              <a:rPr lang="en-US" sz="900">
                <a:solidFill>
                  <a:srgbClr val="800000"/>
                </a:solidFill>
                <a:latin typeface="Arial"/>
                <a:ea typeface="Arial"/>
                <a:cs typeface="Arial"/>
                <a:sym typeface="Arial"/>
              </a:rPr>
              <a:t>                WHERE CRMCustomerID = @CRMCustomerID"</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using</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SqlCommand</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 = </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2B91AF"/>
                </a:solidFill>
                <a:latin typeface="Arial"/>
                <a:ea typeface="Arial"/>
                <a:cs typeface="Arial"/>
                <a:sym typeface="Arial"/>
              </a:rPr>
              <a:t>SqlCommand</a:t>
            </a:r>
            <a:r>
              <a:rPr lang="en-US" sz="900">
                <a:solidFill>
                  <a:srgbClr val="1A94FF"/>
                </a:solidFill>
                <a:latin typeface="Arial"/>
                <a:ea typeface="Arial"/>
                <a:cs typeface="Arial"/>
                <a:sym typeface="Arial"/>
              </a:rPr>
              <a:t>(</a:t>
            </a:r>
            <a:r>
              <a:rPr lang="en-US" sz="900">
                <a:solidFill>
                  <a:srgbClr val="1F377F"/>
                </a:solidFill>
                <a:latin typeface="Arial"/>
                <a:ea typeface="Arial"/>
                <a:cs typeface="Arial"/>
                <a:sym typeface="Arial"/>
              </a:rPr>
              <a:t>sql</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conn</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.Parameters.</a:t>
            </a:r>
            <a:r>
              <a:rPr lang="en-US" sz="900">
                <a:solidFill>
                  <a:srgbClr val="74531F"/>
                </a:solidFill>
                <a:latin typeface="Arial"/>
                <a:ea typeface="Arial"/>
                <a:cs typeface="Arial"/>
                <a:sym typeface="Arial"/>
              </a:rPr>
              <a:t>AddWithValue</a:t>
            </a:r>
            <a:r>
              <a:rPr lang="en-US" sz="900">
                <a:solidFill>
                  <a:srgbClr val="1A94FF"/>
                </a:solidFill>
                <a:latin typeface="Arial"/>
                <a:ea typeface="Arial"/>
                <a:cs typeface="Arial"/>
                <a:sym typeface="Arial"/>
              </a:rPr>
              <a:t>(</a:t>
            </a:r>
            <a:r>
              <a:rPr lang="en-US" sz="900">
                <a:solidFill>
                  <a:srgbClr val="A31515"/>
                </a:solidFill>
                <a:latin typeface="Arial"/>
                <a:ea typeface="Arial"/>
                <a:cs typeface="Arial"/>
                <a:sym typeface="Arial"/>
              </a:rPr>
              <a:t>"@CRMCustomerID"</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crmId</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conn</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Open</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int</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rows</a:t>
            </a:r>
            <a:r>
              <a:rPr lang="en-US" sz="900">
                <a:solidFill>
                  <a:srgbClr val="000000"/>
                </a:solidFill>
                <a:latin typeface="Arial"/>
                <a:ea typeface="Arial"/>
                <a:cs typeface="Arial"/>
                <a:sym typeface="Arial"/>
              </a:rPr>
              <a:t> = </a:t>
            </a:r>
            <a:r>
              <a:rPr lang="en-US" sz="900">
                <a:solidFill>
                  <a:srgbClr val="1F377F"/>
                </a:solidFill>
                <a:latin typeface="Arial"/>
                <a:ea typeface="Arial"/>
                <a:cs typeface="Arial"/>
                <a:sym typeface="Arial"/>
              </a:rPr>
              <a:t>cmd</a:t>
            </a:r>
            <a:r>
              <a:rPr lang="en-US" sz="900">
                <a:solidFill>
                  <a:srgbClr val="000000"/>
                </a:solidFill>
                <a:latin typeface="Arial"/>
                <a:ea typeface="Arial"/>
                <a:cs typeface="Arial"/>
                <a:sym typeface="Arial"/>
              </a:rPr>
              <a:t>.</a:t>
            </a:r>
            <a:r>
              <a:rPr lang="en-US" sz="900">
                <a:solidFill>
                  <a:srgbClr val="74531F"/>
                </a:solidFill>
                <a:latin typeface="Arial"/>
                <a:ea typeface="Arial"/>
                <a:cs typeface="Arial"/>
                <a:sym typeface="Arial"/>
              </a:rPr>
              <a:t>ExecuteNonQuery</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if</a:t>
            </a:r>
            <a:r>
              <a:rPr lang="en-US" sz="900">
                <a:solidFill>
                  <a:srgbClr val="000000"/>
                </a:solidFill>
                <a:latin typeface="Arial"/>
                <a:ea typeface="Arial"/>
                <a:cs typeface="Arial"/>
                <a:sym typeface="Arial"/>
              </a:rPr>
              <a:t> </a:t>
            </a:r>
            <a:r>
              <a:rPr lang="en-US" sz="900">
                <a:solidFill>
                  <a:srgbClr val="1A94FF"/>
                </a:solidFill>
                <a:latin typeface="Arial"/>
                <a:ea typeface="Arial"/>
                <a:cs typeface="Arial"/>
                <a:sym typeface="Arial"/>
              </a:rPr>
              <a:t>(</a:t>
            </a:r>
            <a:r>
              <a:rPr lang="en-US" sz="900">
                <a:solidFill>
                  <a:srgbClr val="1F377F"/>
                </a:solidFill>
                <a:latin typeface="Arial"/>
                <a:ea typeface="Arial"/>
                <a:cs typeface="Arial"/>
                <a:sym typeface="Arial"/>
              </a:rPr>
              <a:t>rows</a:t>
            </a:r>
            <a:r>
              <a:rPr lang="en-US" sz="900">
                <a:solidFill>
                  <a:srgbClr val="000000"/>
                </a:solidFill>
                <a:latin typeface="Arial"/>
                <a:ea typeface="Arial"/>
                <a:cs typeface="Arial"/>
                <a:sym typeface="Arial"/>
              </a:rPr>
              <a:t> == 0</a:t>
            </a:r>
            <a:r>
              <a:rPr lang="en-US" sz="900">
                <a:solidFill>
                  <a:srgbClr val="1A94FF"/>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return</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NotFound</a:t>
            </a:r>
            <a:r>
              <a:rPr lang="en-US" sz="900">
                <a:solidFill>
                  <a:srgbClr val="1A94FF"/>
                </a:solidFill>
                <a:latin typeface="Arial"/>
                <a:ea typeface="Arial"/>
                <a:cs typeface="Arial"/>
                <a:sym typeface="Arial"/>
              </a:rPr>
              <a:t>(</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Message = </a:t>
            </a:r>
            <a:r>
              <a:rPr lang="en-US" sz="900">
                <a:solidFill>
                  <a:srgbClr val="A31515"/>
                </a:solidFill>
                <a:latin typeface="Arial"/>
                <a:ea typeface="Arial"/>
                <a:cs typeface="Arial"/>
                <a:sym typeface="Arial"/>
              </a:rPr>
              <a:t>"Customer not found"</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return</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Ok</a:t>
            </a:r>
            <a:r>
              <a:rPr lang="en-US" sz="900">
                <a:solidFill>
                  <a:srgbClr val="1A94FF"/>
                </a:solidFill>
                <a:latin typeface="Arial"/>
                <a:ea typeface="Arial"/>
                <a:cs typeface="Arial"/>
                <a:sym typeface="Arial"/>
              </a:rPr>
              <a:t>(</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Message = </a:t>
            </a:r>
            <a:r>
              <a:rPr lang="en-US" sz="900">
                <a:solidFill>
                  <a:srgbClr val="A31515"/>
                </a:solidFill>
                <a:latin typeface="Arial"/>
                <a:ea typeface="Arial"/>
                <a:cs typeface="Arial"/>
                <a:sym typeface="Arial"/>
              </a:rPr>
              <a:t>"Customer soft deleted successfully"</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catch</a:t>
            </a: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r>
              <a:rPr lang="en-US" sz="900">
                <a:solidFill>
                  <a:srgbClr val="2B91AF"/>
                </a:solidFill>
                <a:latin typeface="Arial"/>
                <a:ea typeface="Arial"/>
                <a:cs typeface="Arial"/>
                <a:sym typeface="Arial"/>
              </a:rPr>
              <a:t>Exception</a:t>
            </a:r>
            <a:r>
              <a:rPr lang="en-US" sz="900">
                <a:solidFill>
                  <a:srgbClr val="000000"/>
                </a:solidFill>
                <a:latin typeface="Arial"/>
                <a:ea typeface="Arial"/>
                <a:cs typeface="Arial"/>
                <a:sym typeface="Arial"/>
              </a:rPr>
              <a:t> </a:t>
            </a:r>
            <a:r>
              <a:rPr lang="en-US" sz="900">
                <a:solidFill>
                  <a:srgbClr val="1F377F"/>
                </a:solidFill>
                <a:latin typeface="Arial"/>
                <a:ea typeface="Arial"/>
                <a:cs typeface="Arial"/>
                <a:sym typeface="Arial"/>
              </a:rPr>
              <a:t>ex</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8F08C4"/>
                </a:solidFill>
                <a:latin typeface="Arial"/>
                <a:ea typeface="Arial"/>
                <a:cs typeface="Arial"/>
                <a:sym typeface="Arial"/>
              </a:rPr>
              <a:t>return</a:t>
            </a:r>
            <a:r>
              <a:rPr lang="en-US" sz="900">
                <a:solidFill>
                  <a:srgbClr val="000000"/>
                </a:solidFill>
                <a:latin typeface="Arial"/>
                <a:ea typeface="Arial"/>
                <a:cs typeface="Arial"/>
                <a:sym typeface="Arial"/>
              </a:rPr>
              <a:t> </a:t>
            </a:r>
            <a:r>
              <a:rPr lang="en-US" sz="900">
                <a:solidFill>
                  <a:srgbClr val="74531F"/>
                </a:solidFill>
                <a:latin typeface="Arial"/>
                <a:ea typeface="Arial"/>
                <a:cs typeface="Arial"/>
                <a:sym typeface="Arial"/>
              </a:rPr>
              <a:t>StatusCode</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500, </a:t>
            </a:r>
            <a:r>
              <a:rPr lang="en-US" sz="900">
                <a:solidFill>
                  <a:srgbClr val="0000FF"/>
                </a:solidFill>
                <a:latin typeface="Arial"/>
                <a:ea typeface="Arial"/>
                <a:cs typeface="Arial"/>
                <a:sym typeface="Arial"/>
              </a:rPr>
              <a:t>new</a:t>
            </a: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r>
              <a:rPr lang="en-US" sz="900">
                <a:solidFill>
                  <a:srgbClr val="000000"/>
                </a:solidFill>
                <a:latin typeface="Arial"/>
                <a:ea typeface="Arial"/>
                <a:cs typeface="Arial"/>
                <a:sym typeface="Arial"/>
              </a:rPr>
              <a:t> Error = </a:t>
            </a:r>
            <a:r>
              <a:rPr lang="en-US" sz="900">
                <a:solidFill>
                  <a:srgbClr val="1F377F"/>
                </a:solidFill>
                <a:latin typeface="Arial"/>
                <a:ea typeface="Arial"/>
                <a:cs typeface="Arial"/>
                <a:sym typeface="Arial"/>
              </a:rPr>
              <a:t>ex</a:t>
            </a:r>
            <a:r>
              <a:rPr lang="en-US" sz="900">
                <a:solidFill>
                  <a:srgbClr val="000000"/>
                </a:solidFill>
                <a:latin typeface="Arial"/>
                <a:ea typeface="Arial"/>
                <a:cs typeface="Arial"/>
                <a:sym typeface="Arial"/>
              </a:rPr>
              <a:t>.Message </a:t>
            </a:r>
            <a:r>
              <a:rPr lang="en-US" sz="900">
                <a:solidFill>
                  <a:srgbClr val="FFD702"/>
                </a:solidFill>
                <a:latin typeface="Arial"/>
                <a:ea typeface="Arial"/>
                <a:cs typeface="Arial"/>
                <a:sym typeface="Arial"/>
              </a:rPr>
              <a:t>}</a:t>
            </a:r>
            <a:r>
              <a:rPr lang="en-US" sz="900">
                <a:solidFill>
                  <a:srgbClr val="1A94FF"/>
                </a:solidFill>
                <a:latin typeface="Arial"/>
                <a:ea typeface="Arial"/>
                <a:cs typeface="Arial"/>
                <a:sym typeface="Arial"/>
              </a:rPr>
              <a:t>)</a:t>
            </a:r>
            <a:r>
              <a:rPr lang="en-US"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D86AC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000000"/>
                </a:solidFill>
                <a:latin typeface="Arial"/>
                <a:ea typeface="Arial"/>
                <a:cs typeface="Arial"/>
                <a:sym typeface="Arial"/>
              </a:rPr>
              <a:t>    </a:t>
            </a:r>
            <a:r>
              <a:rPr lang="en-US" sz="900">
                <a:solidFill>
                  <a:srgbClr val="FFD702"/>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US" sz="900">
                <a:solidFill>
                  <a:srgbClr val="1A94FF"/>
                </a:solidFill>
                <a:latin typeface="Arial"/>
                <a:ea typeface="Arial"/>
                <a:cs typeface="Arial"/>
                <a:sym typeface="Arial"/>
              </a:rPr>
              <a:t>}</a:t>
            </a:r>
            <a:endParaRPr sz="900">
              <a:solidFill>
                <a:srgbClr val="1A94FF"/>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ER Relationship</a:t>
            </a:r>
            <a:endParaRPr/>
          </a:p>
        </p:txBody>
      </p:sp>
      <p:sp>
        <p:nvSpPr>
          <p:cNvPr id="216" name="Google Shape;216;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Customer (1) → (Many) SyncLog</a:t>
            </a:r>
            <a:endParaRPr sz="3200">
              <a:solidFill>
                <a:schemeClr val="dk1"/>
              </a:solidFill>
              <a:latin typeface="Calibri"/>
              <a:ea typeface="Calibri"/>
              <a:cs typeface="Calibri"/>
              <a:sym typeface="Calibri"/>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lnSpc>
                <a:spcPct val="115000"/>
              </a:lnSpc>
              <a:spcBef>
                <a:spcPts val="1200"/>
              </a:spcBef>
              <a:spcAft>
                <a:spcPts val="0"/>
              </a:spcAft>
              <a:buNone/>
            </a:pPr>
            <a:r>
              <a:rPr b="1" lang="en-US" sz="1400">
                <a:latin typeface="Arial"/>
                <a:ea typeface="Arial"/>
                <a:cs typeface="Arial"/>
                <a:sym typeface="Arial"/>
              </a:rPr>
              <a:t>Meaning:</a:t>
            </a:r>
            <a:endParaRPr b="1" sz="1400">
              <a:latin typeface="Arial"/>
              <a:ea typeface="Arial"/>
              <a:cs typeface="Arial"/>
              <a:sym typeface="Arial"/>
            </a:endParaRPr>
          </a:p>
          <a:p>
            <a:pPr indent="-317500" lvl="0" marL="457200" rtl="0" algn="l">
              <a:lnSpc>
                <a:spcPct val="115000"/>
              </a:lnSpc>
              <a:spcBef>
                <a:spcPts val="1200"/>
              </a:spcBef>
              <a:spcAft>
                <a:spcPts val="0"/>
              </a:spcAft>
              <a:buSzPts val="1400"/>
              <a:buChar char="●"/>
            </a:pPr>
            <a:r>
              <a:rPr lang="en-US" sz="1400">
                <a:latin typeface="Arial"/>
                <a:ea typeface="Arial"/>
                <a:cs typeface="Arial"/>
                <a:sym typeface="Arial"/>
              </a:rPr>
              <a:t>One customer can have multiple sync attempts</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Every API call is tracked for audit purposes</a:t>
            </a:r>
            <a:endParaRPr sz="14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f20ccbc9fc_3_27"/>
          <p:cNvSpPr txBox="1"/>
          <p:nvPr>
            <p:ph type="title"/>
          </p:nvPr>
        </p:nvSpPr>
        <p:spPr>
          <a:xfrm>
            <a:off x="457200" y="274638"/>
            <a:ext cx="8229600" cy="1143000"/>
          </a:xfrm>
          <a:prstGeom prst="rect">
            <a:avLst/>
          </a:prstGeom>
        </p:spPr>
        <p:txBody>
          <a:bodyPr anchorCtr="0" anchor="ctr" bIns="45700" lIns="91425" spcFirstLastPara="1" rIns="91425" wrap="square" tIns="45700">
            <a:noAutofit/>
          </a:bodyPr>
          <a:lstStyle/>
          <a:p>
            <a:pPr indent="0" lvl="0" marL="0" rtl="0" algn="l">
              <a:lnSpc>
                <a:spcPct val="115000"/>
              </a:lnSpc>
              <a:spcBef>
                <a:spcPts val="1400"/>
              </a:spcBef>
              <a:spcAft>
                <a:spcPts val="400"/>
              </a:spcAft>
              <a:buClr>
                <a:schemeClr val="dk1"/>
              </a:buClr>
              <a:buSzPts val="1100"/>
              <a:buFont typeface="Arial"/>
              <a:buNone/>
            </a:pPr>
            <a:r>
              <a:rPr b="1" lang="en-US" sz="4300">
                <a:latin typeface="Arial"/>
                <a:ea typeface="Arial"/>
                <a:cs typeface="Arial"/>
                <a:sym typeface="Arial"/>
              </a:rPr>
              <a:t>Customer Synchronization API</a:t>
            </a:r>
            <a:endParaRPr sz="4300"/>
          </a:p>
        </p:txBody>
      </p:sp>
      <p:sp>
        <p:nvSpPr>
          <p:cNvPr id="222" name="Google Shape;222;g3f20ccbc9fc_3_2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t/>
            </a:r>
            <a:endParaRPr b="1" sz="1300">
              <a:latin typeface="Arial"/>
              <a:ea typeface="Arial"/>
              <a:cs typeface="Arial"/>
              <a:sym typeface="Arial"/>
            </a:endParaRPr>
          </a:p>
          <a:p>
            <a:pPr indent="-317500" lvl="0" marL="457200" rtl="0" algn="l">
              <a:lnSpc>
                <a:spcPct val="115000"/>
              </a:lnSpc>
              <a:spcBef>
                <a:spcPts val="1200"/>
              </a:spcBef>
              <a:spcAft>
                <a:spcPts val="0"/>
              </a:spcAft>
              <a:buSzPts val="1400"/>
              <a:buChar char="●"/>
            </a:pPr>
            <a:r>
              <a:rPr lang="en-US" sz="1400">
                <a:latin typeface="Arial"/>
                <a:ea typeface="Arial"/>
                <a:cs typeface="Arial"/>
                <a:sym typeface="Arial"/>
              </a:rPr>
              <a:t>Accepts JSON payload via REST API</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Processes customer data using stored procedures</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Prevents duplicate entries based on CRMCustomerID</a:t>
            </a:r>
            <a:endParaRPr sz="14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3f20ccbc9fc_3_5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800"/>
              </a:spcBef>
              <a:spcAft>
                <a:spcPts val="400"/>
              </a:spcAft>
              <a:buClr>
                <a:schemeClr val="dk1"/>
              </a:buClr>
              <a:buSzPts val="1100"/>
              <a:buFont typeface="Arial"/>
              <a:buNone/>
            </a:pPr>
            <a:r>
              <a:rPr b="1" lang="en-US" sz="3600">
                <a:latin typeface="Arial"/>
                <a:ea typeface="Arial"/>
                <a:cs typeface="Arial"/>
                <a:sym typeface="Arial"/>
              </a:rPr>
              <a:t>API Endpoint</a:t>
            </a:r>
            <a:endParaRPr sz="3600"/>
          </a:p>
        </p:txBody>
      </p:sp>
      <p:sp>
        <p:nvSpPr>
          <p:cNvPr id="228" name="Google Shape;228;g3f20ccbc9fc_3_5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25000" lnSpcReduction="20000"/>
          </a:bodyPr>
          <a:lstStyle/>
          <a:p>
            <a:pPr indent="0" lvl="0" marL="0" rtl="0" algn="l">
              <a:lnSpc>
                <a:spcPct val="115000"/>
              </a:lnSpc>
              <a:spcBef>
                <a:spcPts val="1800"/>
              </a:spcBef>
              <a:spcAft>
                <a:spcPts val="0"/>
              </a:spcAft>
              <a:buClr>
                <a:schemeClr val="dk1"/>
              </a:buClr>
              <a:buSzPct val="64706"/>
              <a:buFont typeface="Arial"/>
              <a:buNone/>
            </a:pPr>
            <a:r>
              <a:t/>
            </a:r>
            <a:endParaRPr b="1" sz="1700">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n-US" sz="5600">
                <a:latin typeface="Arial"/>
                <a:ea typeface="Arial"/>
                <a:cs typeface="Arial"/>
                <a:sym typeface="Arial"/>
              </a:rPr>
              <a:t>➤ Sync Customer</a:t>
            </a:r>
            <a:endParaRPr b="1" sz="5600">
              <a:latin typeface="Arial"/>
              <a:ea typeface="Arial"/>
              <a:cs typeface="Arial"/>
              <a:sym typeface="Arial"/>
            </a:endParaRPr>
          </a:p>
          <a:p>
            <a:pPr indent="0" lvl="0" marL="0" rtl="0" algn="l">
              <a:lnSpc>
                <a:spcPct val="115000"/>
              </a:lnSpc>
              <a:spcBef>
                <a:spcPts val="400"/>
              </a:spcBef>
              <a:spcAft>
                <a:spcPts val="0"/>
              </a:spcAft>
              <a:buClr>
                <a:schemeClr val="dk1"/>
              </a:buClr>
              <a:buSzPts val="275"/>
              <a:buFont typeface="Arial"/>
              <a:buNone/>
            </a:pPr>
            <a:r>
              <a:rPr lang="en-US" sz="5600">
                <a:latin typeface="Arial"/>
                <a:ea typeface="Arial"/>
                <a:cs typeface="Arial"/>
                <a:sym typeface="Arial"/>
              </a:rPr>
              <a:t>POST /api/customer/sync</a:t>
            </a:r>
            <a:endParaRPr sz="5600">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n-US" sz="5600">
                <a:latin typeface="Arial"/>
                <a:ea typeface="Arial"/>
                <a:cs typeface="Arial"/>
                <a:sym typeface="Arial"/>
              </a:rPr>
              <a:t>Request Body</a:t>
            </a:r>
            <a:endParaRPr b="1" sz="5600">
              <a:latin typeface="Arial"/>
              <a:ea typeface="Arial"/>
              <a:cs typeface="Arial"/>
              <a:sym typeface="Arial"/>
            </a:endParaRPr>
          </a:p>
          <a:p>
            <a:pPr indent="0" lvl="0" marL="0" rtl="0" algn="l">
              <a:lnSpc>
                <a:spcPct val="115000"/>
              </a:lnSpc>
              <a:spcBef>
                <a:spcPts val="400"/>
              </a:spcBef>
              <a:spcAft>
                <a:spcPts val="0"/>
              </a:spcAft>
              <a:buClr>
                <a:schemeClr val="dk1"/>
              </a:buClr>
              <a:buSzPts val="275"/>
              <a:buFont typeface="Arial"/>
              <a:buNone/>
            </a:pPr>
            <a:r>
              <a:rPr lang="en-US" sz="5600">
                <a:latin typeface="Arial"/>
                <a:ea typeface="Arial"/>
                <a:cs typeface="Arial"/>
                <a:sym typeface="Arial"/>
              </a:rPr>
              <a:t>{</a:t>
            </a:r>
            <a:endParaRPr sz="5600">
              <a:latin typeface="Arial"/>
              <a:ea typeface="Arial"/>
              <a:cs typeface="Arial"/>
              <a:sym typeface="Arial"/>
            </a:endParaRPr>
          </a:p>
          <a:p>
            <a:pPr indent="0" lvl="0" marL="0" rtl="0" algn="l">
              <a:lnSpc>
                <a:spcPct val="115000"/>
              </a:lnSpc>
              <a:spcBef>
                <a:spcPts val="1200"/>
              </a:spcBef>
              <a:spcAft>
                <a:spcPts val="0"/>
              </a:spcAft>
              <a:buClr>
                <a:schemeClr val="dk1"/>
              </a:buClr>
              <a:buSzPts val="275"/>
              <a:buFont typeface="Arial"/>
              <a:buNone/>
            </a:pPr>
            <a:r>
              <a:rPr lang="en-US" sz="5600">
                <a:latin typeface="Arial"/>
                <a:ea typeface="Arial"/>
                <a:cs typeface="Arial"/>
                <a:sym typeface="Arial"/>
              </a:rPr>
              <a:t> "customerId": "CRM101",</a:t>
            </a:r>
            <a:endParaRPr sz="5600">
              <a:latin typeface="Arial"/>
              <a:ea typeface="Arial"/>
              <a:cs typeface="Arial"/>
              <a:sym typeface="Arial"/>
            </a:endParaRPr>
          </a:p>
          <a:p>
            <a:pPr indent="0" lvl="0" marL="0" rtl="0" algn="l">
              <a:lnSpc>
                <a:spcPct val="115000"/>
              </a:lnSpc>
              <a:spcBef>
                <a:spcPts val="1200"/>
              </a:spcBef>
              <a:spcAft>
                <a:spcPts val="0"/>
              </a:spcAft>
              <a:buClr>
                <a:schemeClr val="dk1"/>
              </a:buClr>
              <a:buSzPts val="275"/>
              <a:buFont typeface="Arial"/>
              <a:buNone/>
            </a:pPr>
            <a:r>
              <a:rPr lang="en-US" sz="5600">
                <a:latin typeface="Arial"/>
                <a:ea typeface="Arial"/>
                <a:cs typeface="Arial"/>
                <a:sym typeface="Arial"/>
              </a:rPr>
              <a:t> "firstName": "Alice",</a:t>
            </a:r>
            <a:endParaRPr sz="5600">
              <a:latin typeface="Arial"/>
              <a:ea typeface="Arial"/>
              <a:cs typeface="Arial"/>
              <a:sym typeface="Arial"/>
            </a:endParaRPr>
          </a:p>
          <a:p>
            <a:pPr indent="0" lvl="0" marL="0" rtl="0" algn="l">
              <a:lnSpc>
                <a:spcPct val="115000"/>
              </a:lnSpc>
              <a:spcBef>
                <a:spcPts val="1200"/>
              </a:spcBef>
              <a:spcAft>
                <a:spcPts val="0"/>
              </a:spcAft>
              <a:buClr>
                <a:schemeClr val="dk1"/>
              </a:buClr>
              <a:buSzPts val="275"/>
              <a:buFont typeface="Arial"/>
              <a:buNone/>
            </a:pPr>
            <a:r>
              <a:rPr lang="en-US" sz="5600">
                <a:latin typeface="Arial"/>
                <a:ea typeface="Arial"/>
                <a:cs typeface="Arial"/>
                <a:sym typeface="Arial"/>
              </a:rPr>
              <a:t> "lastName": "Brown",</a:t>
            </a:r>
            <a:endParaRPr sz="5600">
              <a:latin typeface="Arial"/>
              <a:ea typeface="Arial"/>
              <a:cs typeface="Arial"/>
              <a:sym typeface="Arial"/>
            </a:endParaRPr>
          </a:p>
          <a:p>
            <a:pPr indent="0" lvl="0" marL="0" rtl="0" algn="l">
              <a:lnSpc>
                <a:spcPct val="115000"/>
              </a:lnSpc>
              <a:spcBef>
                <a:spcPts val="1200"/>
              </a:spcBef>
              <a:spcAft>
                <a:spcPts val="0"/>
              </a:spcAft>
              <a:buClr>
                <a:schemeClr val="dk1"/>
              </a:buClr>
              <a:buSzPts val="275"/>
              <a:buFont typeface="Arial"/>
              <a:buNone/>
            </a:pPr>
            <a:r>
              <a:rPr lang="en-US" sz="5600">
                <a:latin typeface="Arial"/>
                <a:ea typeface="Arial"/>
                <a:cs typeface="Arial"/>
                <a:sym typeface="Arial"/>
              </a:rPr>
              <a:t> "email": "alice@email.com",</a:t>
            </a:r>
            <a:endParaRPr sz="5600">
              <a:latin typeface="Arial"/>
              <a:ea typeface="Arial"/>
              <a:cs typeface="Arial"/>
              <a:sym typeface="Arial"/>
            </a:endParaRPr>
          </a:p>
          <a:p>
            <a:pPr indent="0" lvl="0" marL="0" rtl="0" algn="l">
              <a:lnSpc>
                <a:spcPct val="115000"/>
              </a:lnSpc>
              <a:spcBef>
                <a:spcPts val="1200"/>
              </a:spcBef>
              <a:spcAft>
                <a:spcPts val="0"/>
              </a:spcAft>
              <a:buClr>
                <a:schemeClr val="dk1"/>
              </a:buClr>
              <a:buSzPts val="275"/>
              <a:buFont typeface="Arial"/>
              <a:buNone/>
            </a:pPr>
            <a:r>
              <a:rPr lang="en-US" sz="5600">
                <a:latin typeface="Arial"/>
                <a:ea typeface="Arial"/>
                <a:cs typeface="Arial"/>
                <a:sym typeface="Arial"/>
              </a:rPr>
              <a:t> "phone": "7785551111"</a:t>
            </a:r>
            <a:endParaRPr sz="5600">
              <a:latin typeface="Arial"/>
              <a:ea typeface="Arial"/>
              <a:cs typeface="Arial"/>
              <a:sym typeface="Arial"/>
            </a:endParaRPr>
          </a:p>
          <a:p>
            <a:pPr indent="0" lvl="0" marL="0" rtl="0" algn="l">
              <a:lnSpc>
                <a:spcPct val="115000"/>
              </a:lnSpc>
              <a:spcBef>
                <a:spcPts val="1200"/>
              </a:spcBef>
              <a:spcAft>
                <a:spcPts val="0"/>
              </a:spcAft>
              <a:buClr>
                <a:schemeClr val="dk1"/>
              </a:buClr>
              <a:buSzPts val="275"/>
              <a:buFont typeface="Arial"/>
              <a:buNone/>
            </a:pPr>
            <a:r>
              <a:rPr lang="en-US" sz="5600">
                <a:latin typeface="Arial"/>
                <a:ea typeface="Arial"/>
                <a:cs typeface="Arial"/>
                <a:sym typeface="Arial"/>
              </a:rPr>
              <a:t>}</a:t>
            </a:r>
            <a:endParaRPr sz="5600">
              <a:latin typeface="Arial"/>
              <a:ea typeface="Arial"/>
              <a:cs typeface="Arial"/>
              <a:sym typeface="Arial"/>
            </a:endParaRPr>
          </a:p>
          <a:p>
            <a:pPr indent="0" lvl="0" marL="0" rtl="0" algn="l">
              <a:lnSpc>
                <a:spcPct val="115000"/>
              </a:lnSpc>
              <a:spcBef>
                <a:spcPts val="1400"/>
              </a:spcBef>
              <a:spcAft>
                <a:spcPts val="0"/>
              </a:spcAft>
              <a:buClr>
                <a:schemeClr val="dk1"/>
              </a:buClr>
              <a:buSzPts val="275"/>
              <a:buFont typeface="Arial"/>
              <a:buNone/>
            </a:pPr>
            <a:r>
              <a:rPr b="1" lang="en-US" sz="5600">
                <a:latin typeface="Arial"/>
                <a:ea typeface="Arial"/>
                <a:cs typeface="Arial"/>
                <a:sym typeface="Arial"/>
              </a:rPr>
              <a:t>Response</a:t>
            </a:r>
            <a:endParaRPr b="1" sz="5600">
              <a:latin typeface="Arial"/>
              <a:ea typeface="Arial"/>
              <a:cs typeface="Arial"/>
              <a:sym typeface="Arial"/>
            </a:endParaRPr>
          </a:p>
          <a:p>
            <a:pPr indent="0" lvl="0" marL="0" rtl="0" algn="l">
              <a:lnSpc>
                <a:spcPct val="115000"/>
              </a:lnSpc>
              <a:spcBef>
                <a:spcPts val="400"/>
              </a:spcBef>
              <a:spcAft>
                <a:spcPts val="0"/>
              </a:spcAft>
              <a:buClr>
                <a:schemeClr val="dk1"/>
              </a:buClr>
              <a:buSzPts val="275"/>
              <a:buFont typeface="Arial"/>
              <a:buNone/>
            </a:pPr>
            <a:r>
              <a:rPr lang="en-US" sz="5600">
                <a:latin typeface="Arial"/>
                <a:ea typeface="Arial"/>
                <a:cs typeface="Arial"/>
                <a:sym typeface="Arial"/>
              </a:rPr>
              <a:t>{</a:t>
            </a:r>
            <a:endParaRPr sz="5600">
              <a:latin typeface="Arial"/>
              <a:ea typeface="Arial"/>
              <a:cs typeface="Arial"/>
              <a:sym typeface="Arial"/>
            </a:endParaRPr>
          </a:p>
          <a:p>
            <a:pPr indent="0" lvl="0" marL="0" rtl="0" algn="l">
              <a:lnSpc>
                <a:spcPct val="115000"/>
              </a:lnSpc>
              <a:spcBef>
                <a:spcPts val="1200"/>
              </a:spcBef>
              <a:spcAft>
                <a:spcPts val="0"/>
              </a:spcAft>
              <a:buClr>
                <a:schemeClr val="dk1"/>
              </a:buClr>
              <a:buSzPts val="275"/>
              <a:buFont typeface="Arial"/>
              <a:buNone/>
            </a:pPr>
            <a:r>
              <a:rPr lang="en-US" sz="5600">
                <a:latin typeface="Arial"/>
                <a:ea typeface="Arial"/>
                <a:cs typeface="Arial"/>
                <a:sym typeface="Arial"/>
              </a:rPr>
              <a:t> "message": "Customer synced successfully",</a:t>
            </a:r>
            <a:endParaRPr sz="5600">
              <a:latin typeface="Arial"/>
              <a:ea typeface="Arial"/>
              <a:cs typeface="Arial"/>
              <a:sym typeface="Arial"/>
            </a:endParaRPr>
          </a:p>
          <a:p>
            <a:pPr indent="0" lvl="0" marL="0" rtl="0" algn="l">
              <a:lnSpc>
                <a:spcPct val="115000"/>
              </a:lnSpc>
              <a:spcBef>
                <a:spcPts val="1200"/>
              </a:spcBef>
              <a:spcAft>
                <a:spcPts val="0"/>
              </a:spcAft>
              <a:buClr>
                <a:schemeClr val="dk1"/>
              </a:buClr>
              <a:buSzPts val="275"/>
              <a:buFont typeface="Arial"/>
              <a:buNone/>
            </a:pPr>
            <a:r>
              <a:rPr lang="en-US" sz="5600">
                <a:latin typeface="Arial"/>
                <a:ea typeface="Arial"/>
                <a:cs typeface="Arial"/>
                <a:sym typeface="Arial"/>
              </a:rPr>
              <a:t> "rowsAffected": 1</a:t>
            </a:r>
            <a:endParaRPr sz="5600">
              <a:latin typeface="Arial"/>
              <a:ea typeface="Arial"/>
              <a:cs typeface="Arial"/>
              <a:sym typeface="Arial"/>
            </a:endParaRPr>
          </a:p>
          <a:p>
            <a:pPr indent="0" lvl="0" marL="0" rtl="0" algn="l">
              <a:lnSpc>
                <a:spcPct val="115000"/>
              </a:lnSpc>
              <a:spcBef>
                <a:spcPts val="1200"/>
              </a:spcBef>
              <a:spcAft>
                <a:spcPts val="0"/>
              </a:spcAft>
              <a:buClr>
                <a:schemeClr val="dk1"/>
              </a:buClr>
              <a:buSzPts val="275"/>
              <a:buFont typeface="Arial"/>
              <a:buNone/>
            </a:pPr>
            <a:r>
              <a:rPr lang="en-US" sz="5600">
                <a:latin typeface="Arial"/>
                <a:ea typeface="Arial"/>
                <a:cs typeface="Arial"/>
                <a:sym typeface="Arial"/>
              </a:rPr>
              <a:t>}</a:t>
            </a:r>
            <a:endParaRPr sz="56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API Example</a:t>
            </a:r>
            <a:endParaRPr/>
          </a:p>
        </p:txBody>
      </p:sp>
      <p:sp>
        <p:nvSpPr>
          <p:cNvPr id="234" name="Google Shape;234;p8"/>
          <p:cNvSpPr txBox="1"/>
          <p:nvPr>
            <p:ph idx="1" type="body"/>
          </p:nvPr>
        </p:nvSpPr>
        <p:spPr>
          <a:xfrm>
            <a:off x="457200" y="1533250"/>
            <a:ext cx="8229600" cy="4526100"/>
          </a:xfrm>
          <a:prstGeom prst="rect">
            <a:avLst/>
          </a:prstGeom>
          <a:noFill/>
          <a:ln>
            <a:noFill/>
          </a:ln>
        </p:spPr>
        <p:txBody>
          <a:bodyPr anchorCtr="0" anchor="t" bIns="45700" lIns="91425" spcFirstLastPara="1" rIns="91425" wrap="square" tIns="45700">
            <a:normAutofit fontScale="47500" lnSpcReduction="20000"/>
          </a:bodyPr>
          <a:lstStyle/>
          <a:p>
            <a:pPr indent="-215106" lvl="0" marL="342900" rtl="0" algn="l">
              <a:spcBef>
                <a:spcPts val="0"/>
              </a:spcBef>
              <a:spcAft>
                <a:spcPts val="0"/>
              </a:spcAft>
              <a:buClr>
                <a:schemeClr val="dk1"/>
              </a:buClr>
              <a:buSzPct val="100000"/>
              <a:buChar char="●"/>
            </a:pPr>
            <a:r>
              <a:rPr lang="en-US" sz="2500">
                <a:solidFill>
                  <a:schemeClr val="dk1"/>
                </a:solidFill>
                <a:latin typeface="Calibri"/>
                <a:ea typeface="Calibri"/>
                <a:cs typeface="Calibri"/>
                <a:sym typeface="Calibri"/>
              </a:rPr>
              <a:t>POST /api/customer/sync with JSON payload</a:t>
            </a:r>
            <a:endParaRPr sz="2500"/>
          </a:p>
          <a:p>
            <a:pPr indent="-215106" lvl="0" marL="342900" rtl="0" algn="l">
              <a:spcBef>
                <a:spcPts val="1200"/>
              </a:spcBef>
              <a:spcAft>
                <a:spcPts val="0"/>
              </a:spcAft>
              <a:buClr>
                <a:schemeClr val="dk1"/>
              </a:buClr>
              <a:buSzPct val="100000"/>
              <a:buChar char="●"/>
            </a:pPr>
            <a:r>
              <a:rPr lang="en-US" sz="2500" u="sng">
                <a:solidFill>
                  <a:schemeClr val="hlink"/>
                </a:solidFill>
                <a:hlinkClick r:id="rId3"/>
              </a:rPr>
              <a:t>https://localhost:7087/swagger/index.html</a:t>
            </a:r>
            <a:endParaRPr sz="2500"/>
          </a:p>
          <a:p>
            <a:pPr indent="-215106" lvl="0" marL="342900" rtl="0" algn="l">
              <a:spcBef>
                <a:spcPts val="1200"/>
              </a:spcBef>
              <a:spcAft>
                <a:spcPts val="0"/>
              </a:spcAft>
              <a:buClr>
                <a:schemeClr val="dk1"/>
              </a:buClr>
              <a:buSzPct val="100000"/>
              <a:buChar char="●"/>
            </a:pPr>
            <a:r>
              <a:rPr lang="en-US" sz="2500"/>
              <a:t>https://localhost:7087/swagger/v1/swagger.json</a:t>
            </a:r>
            <a:endParaRPr sz="2500"/>
          </a:p>
          <a:p>
            <a:pPr indent="0" lvl="0" marL="0" rtl="0" algn="l">
              <a:lnSpc>
                <a:spcPct val="115000"/>
              </a:lnSpc>
              <a:spcBef>
                <a:spcPts val="1200"/>
              </a:spcBef>
              <a:spcAft>
                <a:spcPts val="0"/>
              </a:spcAft>
              <a:buClr>
                <a:schemeClr val="dk1"/>
              </a:buClr>
              <a:buSzPct val="44000"/>
              <a:buFont typeface="Arial"/>
              <a:buNone/>
            </a:pPr>
            <a:r>
              <a:rPr b="1" lang="en-US" sz="2500">
                <a:latin typeface="Arial"/>
                <a:ea typeface="Arial"/>
                <a:cs typeface="Arial"/>
                <a:sym typeface="Arial"/>
              </a:rPr>
              <a:t>Endpoint:</a:t>
            </a:r>
            <a:endParaRPr b="1" sz="2500">
              <a:latin typeface="Arial"/>
              <a:ea typeface="Arial"/>
              <a:cs typeface="Arial"/>
              <a:sym typeface="Arial"/>
            </a:endParaRPr>
          </a:p>
          <a:p>
            <a:pPr indent="0" lvl="0" marL="0" rtl="0" algn="l">
              <a:lnSpc>
                <a:spcPct val="115000"/>
              </a:lnSpc>
              <a:spcBef>
                <a:spcPts val="1200"/>
              </a:spcBef>
              <a:spcAft>
                <a:spcPts val="0"/>
              </a:spcAft>
              <a:buClr>
                <a:schemeClr val="dk1"/>
              </a:buClr>
              <a:buSzPct val="44000"/>
              <a:buFont typeface="Arial"/>
              <a:buNone/>
            </a:pPr>
            <a:r>
              <a:rPr lang="en-US" sz="2500">
                <a:latin typeface="Arial"/>
                <a:ea typeface="Arial"/>
                <a:cs typeface="Arial"/>
                <a:sym typeface="Arial"/>
              </a:rPr>
              <a:t>POST /api/customer/sync</a:t>
            </a:r>
            <a:endParaRPr sz="2500">
              <a:latin typeface="Arial"/>
              <a:ea typeface="Arial"/>
              <a:cs typeface="Arial"/>
              <a:sym typeface="Arial"/>
            </a:endParaRPr>
          </a:p>
          <a:p>
            <a:pPr indent="0" lvl="0" marL="0" rtl="0" algn="l">
              <a:lnSpc>
                <a:spcPct val="115000"/>
              </a:lnSpc>
              <a:spcBef>
                <a:spcPts val="1200"/>
              </a:spcBef>
              <a:spcAft>
                <a:spcPts val="0"/>
              </a:spcAft>
              <a:buClr>
                <a:schemeClr val="dk1"/>
              </a:buClr>
              <a:buSzPct val="44000"/>
              <a:buFont typeface="Arial"/>
              <a:buNone/>
            </a:pPr>
            <a:r>
              <a:rPr b="1" lang="en-US" sz="2500">
                <a:latin typeface="Arial"/>
                <a:ea typeface="Arial"/>
                <a:cs typeface="Arial"/>
                <a:sym typeface="Arial"/>
              </a:rPr>
              <a:t>Sample Request:</a:t>
            </a:r>
            <a:endParaRPr b="1" sz="2500">
              <a:latin typeface="Arial"/>
              <a:ea typeface="Arial"/>
              <a:cs typeface="Arial"/>
              <a:sym typeface="Arial"/>
            </a:endParaRPr>
          </a:p>
          <a:p>
            <a:pPr indent="0" lvl="0" marL="0" rtl="0" algn="l">
              <a:spcBef>
                <a:spcPts val="1200"/>
              </a:spcBef>
              <a:spcAft>
                <a:spcPts val="0"/>
              </a:spcAft>
              <a:buNone/>
            </a:pPr>
            <a:r>
              <a:rPr lang="en-US" sz="2500">
                <a:latin typeface="Arial"/>
                <a:ea typeface="Arial"/>
                <a:cs typeface="Arial"/>
                <a:sym typeface="Arial"/>
              </a:rPr>
              <a:t>{</a:t>
            </a:r>
            <a:endParaRPr sz="2500">
              <a:latin typeface="Arial"/>
              <a:ea typeface="Arial"/>
              <a:cs typeface="Arial"/>
              <a:sym typeface="Arial"/>
            </a:endParaRPr>
          </a:p>
          <a:p>
            <a:pPr indent="0" lvl="0" marL="0" rtl="0" algn="l">
              <a:spcBef>
                <a:spcPts val="1200"/>
              </a:spcBef>
              <a:spcAft>
                <a:spcPts val="0"/>
              </a:spcAft>
              <a:buNone/>
            </a:pPr>
            <a:r>
              <a:rPr lang="en-US" sz="2500">
                <a:latin typeface="Arial"/>
                <a:ea typeface="Arial"/>
                <a:cs typeface="Arial"/>
                <a:sym typeface="Arial"/>
              </a:rPr>
              <a:t>  "customerId": "CRM103",</a:t>
            </a:r>
            <a:endParaRPr sz="2500">
              <a:latin typeface="Arial"/>
              <a:ea typeface="Arial"/>
              <a:cs typeface="Arial"/>
              <a:sym typeface="Arial"/>
            </a:endParaRPr>
          </a:p>
          <a:p>
            <a:pPr indent="0" lvl="0" marL="0" rtl="0" algn="l">
              <a:spcBef>
                <a:spcPts val="1200"/>
              </a:spcBef>
              <a:spcAft>
                <a:spcPts val="0"/>
              </a:spcAft>
              <a:buNone/>
            </a:pPr>
            <a:r>
              <a:rPr lang="en-US" sz="2500">
                <a:latin typeface="Arial"/>
                <a:ea typeface="Arial"/>
                <a:cs typeface="Arial"/>
                <a:sym typeface="Arial"/>
              </a:rPr>
              <a:t>  "firstName": "David",</a:t>
            </a:r>
            <a:endParaRPr sz="2500">
              <a:latin typeface="Arial"/>
              <a:ea typeface="Arial"/>
              <a:cs typeface="Arial"/>
              <a:sym typeface="Arial"/>
            </a:endParaRPr>
          </a:p>
          <a:p>
            <a:pPr indent="0" lvl="0" marL="0" rtl="0" algn="l">
              <a:spcBef>
                <a:spcPts val="1200"/>
              </a:spcBef>
              <a:spcAft>
                <a:spcPts val="0"/>
              </a:spcAft>
              <a:buNone/>
            </a:pPr>
            <a:r>
              <a:rPr lang="en-US" sz="2500">
                <a:latin typeface="Arial"/>
                <a:ea typeface="Arial"/>
                <a:cs typeface="Arial"/>
                <a:sym typeface="Arial"/>
              </a:rPr>
              <a:t>  "lastName": "Wilson",</a:t>
            </a:r>
            <a:endParaRPr sz="2500">
              <a:latin typeface="Arial"/>
              <a:ea typeface="Arial"/>
              <a:cs typeface="Arial"/>
              <a:sym typeface="Arial"/>
            </a:endParaRPr>
          </a:p>
          <a:p>
            <a:pPr indent="0" lvl="0" marL="0" rtl="0" algn="l">
              <a:spcBef>
                <a:spcPts val="1200"/>
              </a:spcBef>
              <a:spcAft>
                <a:spcPts val="0"/>
              </a:spcAft>
              <a:buNone/>
            </a:pPr>
            <a:r>
              <a:rPr lang="en-US" sz="2500">
                <a:latin typeface="Arial"/>
                <a:ea typeface="Arial"/>
                <a:cs typeface="Arial"/>
                <a:sym typeface="Arial"/>
              </a:rPr>
              <a:t>  "email": "david.wilson@email.com",</a:t>
            </a:r>
            <a:endParaRPr sz="2500">
              <a:latin typeface="Arial"/>
              <a:ea typeface="Arial"/>
              <a:cs typeface="Arial"/>
              <a:sym typeface="Arial"/>
            </a:endParaRPr>
          </a:p>
          <a:p>
            <a:pPr indent="0" lvl="0" marL="0" rtl="0" algn="l">
              <a:spcBef>
                <a:spcPts val="1200"/>
              </a:spcBef>
              <a:spcAft>
                <a:spcPts val="0"/>
              </a:spcAft>
              <a:buNone/>
            </a:pPr>
            <a:r>
              <a:rPr lang="en-US" sz="2500">
                <a:latin typeface="Arial"/>
                <a:ea typeface="Arial"/>
                <a:cs typeface="Arial"/>
                <a:sym typeface="Arial"/>
              </a:rPr>
              <a:t>  "phone": "7785553333"</a:t>
            </a:r>
            <a:endParaRPr sz="2500">
              <a:latin typeface="Arial"/>
              <a:ea typeface="Arial"/>
              <a:cs typeface="Arial"/>
              <a:sym typeface="Arial"/>
            </a:endParaRPr>
          </a:p>
          <a:p>
            <a:pPr indent="0" lvl="0" marL="0" rtl="0" algn="l">
              <a:spcBef>
                <a:spcPts val="1200"/>
              </a:spcBef>
              <a:spcAft>
                <a:spcPts val="0"/>
              </a:spcAft>
              <a:buNone/>
            </a:pPr>
            <a:r>
              <a:rPr lang="en-US" sz="2500">
                <a:latin typeface="Arial"/>
                <a:ea typeface="Arial"/>
                <a:cs typeface="Arial"/>
                <a:sym typeface="Arial"/>
              </a:rPr>
              <a:t>}</a:t>
            </a:r>
            <a:endParaRPr sz="2500">
              <a:latin typeface="Arial"/>
              <a:ea typeface="Arial"/>
              <a:cs typeface="Arial"/>
              <a:sym typeface="Arial"/>
            </a:endParaRPr>
          </a:p>
          <a:p>
            <a:pPr indent="0" lvl="0" marL="0" rtl="0" algn="l">
              <a:lnSpc>
                <a:spcPct val="115000"/>
              </a:lnSpc>
              <a:spcBef>
                <a:spcPts val="1200"/>
              </a:spcBef>
              <a:spcAft>
                <a:spcPts val="1200"/>
              </a:spcAft>
              <a:buNone/>
            </a:pPr>
            <a:r>
              <a:t/>
            </a:r>
            <a:endParaRPr sz="2500">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f20ccbc9fc_3_154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40" name="Google Shape;240;g3f20ccbc9fc_3_154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241" name="Google Shape;241;g3f20ccbc9fc_3_1544"/>
          <p:cNvPicPr preferRelativeResize="0"/>
          <p:nvPr/>
        </p:nvPicPr>
        <p:blipFill>
          <a:blip r:embed="rId3">
            <a:alphaModFix/>
          </a:blip>
          <a:stretch>
            <a:fillRect/>
          </a:stretch>
        </p:blipFill>
        <p:spPr>
          <a:xfrm>
            <a:off x="152400" y="364934"/>
            <a:ext cx="9144001" cy="643293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f20ccbc9fc_3_155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47" name="Google Shape;247;g3f20ccbc9fc_3_155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248" name="Google Shape;248;g3f20ccbc9fc_3_1550"/>
          <p:cNvPicPr preferRelativeResize="0"/>
          <p:nvPr/>
        </p:nvPicPr>
        <p:blipFill>
          <a:blip r:embed="rId3">
            <a:alphaModFix/>
          </a:blip>
          <a:stretch>
            <a:fillRect/>
          </a:stretch>
        </p:blipFill>
        <p:spPr>
          <a:xfrm>
            <a:off x="152400" y="1313822"/>
            <a:ext cx="9143999" cy="453515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f20ccbc9fc_3_155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54" name="Google Shape;254;g3f20ccbc9fc_3_1556"/>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255" name="Google Shape;255;g3f20ccbc9fc_3_1556"/>
          <p:cNvPicPr preferRelativeResize="0"/>
          <p:nvPr/>
        </p:nvPicPr>
        <p:blipFill>
          <a:blip r:embed="rId3">
            <a:alphaModFix/>
          </a:blip>
          <a:stretch>
            <a:fillRect/>
          </a:stretch>
        </p:blipFill>
        <p:spPr>
          <a:xfrm>
            <a:off x="152400" y="423979"/>
            <a:ext cx="9144000" cy="631484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f20ccbc9fc_3_156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61" name="Google Shape;261;g3f20ccbc9fc_3_1562"/>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262" name="Google Shape;262;g3f20ccbc9fc_3_1562"/>
          <p:cNvPicPr preferRelativeResize="0"/>
          <p:nvPr/>
        </p:nvPicPr>
        <p:blipFill>
          <a:blip r:embed="rId3">
            <a:alphaModFix/>
          </a:blip>
          <a:stretch>
            <a:fillRect/>
          </a:stretch>
        </p:blipFill>
        <p:spPr>
          <a:xfrm>
            <a:off x="152400" y="633353"/>
            <a:ext cx="9143999" cy="589609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f20ccbc9fc_3_1568"/>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68" name="Google Shape;268;g3f20ccbc9fc_3_1568"/>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269" name="Google Shape;269;g3f20ccbc9fc_3_1568"/>
          <p:cNvPicPr preferRelativeResize="0"/>
          <p:nvPr/>
        </p:nvPicPr>
        <p:blipFill>
          <a:blip r:embed="rId3">
            <a:alphaModFix/>
          </a:blip>
          <a:stretch>
            <a:fillRect/>
          </a:stretch>
        </p:blipFill>
        <p:spPr>
          <a:xfrm>
            <a:off x="152400" y="262189"/>
            <a:ext cx="9144000" cy="663842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f20ccbc9fc_3_157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75" name="Google Shape;275;g3f20ccbc9fc_3_1579"/>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276" name="Google Shape;276;g3f20ccbc9fc_3_1579"/>
          <p:cNvPicPr preferRelativeResize="0"/>
          <p:nvPr/>
        </p:nvPicPr>
        <p:blipFill>
          <a:blip r:embed="rId3">
            <a:alphaModFix/>
          </a:blip>
          <a:stretch>
            <a:fillRect/>
          </a:stretch>
        </p:blipFill>
        <p:spPr>
          <a:xfrm>
            <a:off x="0" y="174356"/>
            <a:ext cx="9143999" cy="650928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3f20ccbc9fc_3_158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282" name="Google Shape;282;g3f20ccbc9fc_3_1585"/>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283" name="Google Shape;283;g3f20ccbc9fc_3_1585"/>
          <p:cNvPicPr preferRelativeResize="0"/>
          <p:nvPr/>
        </p:nvPicPr>
        <p:blipFill>
          <a:blip r:embed="rId3">
            <a:alphaModFix/>
          </a:blip>
          <a:stretch>
            <a:fillRect/>
          </a:stretch>
        </p:blipFill>
        <p:spPr>
          <a:xfrm>
            <a:off x="457200" y="1600200"/>
            <a:ext cx="2914650" cy="27813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3f20ccbc9fc_3_33"/>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Stored Procedure-Based Business Logic </a:t>
            </a:r>
            <a:endParaRPr/>
          </a:p>
        </p:txBody>
      </p:sp>
      <p:sp>
        <p:nvSpPr>
          <p:cNvPr id="289" name="Google Shape;289;g3f20ccbc9fc_3_33"/>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317500" lvl="0" marL="457200" rtl="0" algn="l">
              <a:spcBef>
                <a:spcPts val="360"/>
              </a:spcBef>
              <a:spcAft>
                <a:spcPts val="0"/>
              </a:spcAft>
              <a:buSzPts val="1400"/>
              <a:buChar char="●"/>
            </a:pPr>
            <a:r>
              <a:rPr lang="en-US" sz="1400"/>
              <a:t>Centralized business rules in SQL Server</a:t>
            </a:r>
            <a:endParaRPr sz="1400"/>
          </a:p>
          <a:p>
            <a:pPr indent="-317500" lvl="0" marL="457200" rtl="0" algn="l">
              <a:spcBef>
                <a:spcPts val="0"/>
              </a:spcBef>
              <a:spcAft>
                <a:spcPts val="0"/>
              </a:spcAft>
              <a:buSzPts val="1400"/>
              <a:buChar char="●"/>
            </a:pPr>
            <a:r>
              <a:rPr lang="en-US" sz="1400"/>
              <a:t>Ensures consistent data validation at database level</a:t>
            </a:r>
            <a:endParaRPr sz="1400"/>
          </a:p>
          <a:p>
            <a:pPr indent="-317500" lvl="0" marL="457200" rtl="0" algn="l">
              <a:spcBef>
                <a:spcPts val="0"/>
              </a:spcBef>
              <a:spcAft>
                <a:spcPts val="0"/>
              </a:spcAft>
              <a:buSzPts val="1400"/>
              <a:buChar char="●"/>
            </a:pPr>
            <a:r>
              <a:rPr lang="en-US" sz="1400"/>
              <a:t>Handles duplicate detection before insert</a:t>
            </a:r>
            <a:endParaRPr sz="1400"/>
          </a:p>
          <a:p>
            <a:pPr indent="0" lvl="0" marL="0" rtl="0" algn="l">
              <a:spcBef>
                <a:spcPts val="1200"/>
              </a:spcBef>
              <a:spcAft>
                <a:spcPts val="12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Data Flow Example</a:t>
            </a:r>
            <a:endParaRPr/>
          </a:p>
        </p:txBody>
      </p:sp>
      <p:sp>
        <p:nvSpPr>
          <p:cNvPr id="295" name="Google Shape;295;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27660" lvl="0" marL="342900" rtl="0" algn="l">
              <a:spcBef>
                <a:spcPts val="0"/>
              </a:spcBef>
              <a:spcAft>
                <a:spcPts val="0"/>
              </a:spcAft>
              <a:buClr>
                <a:schemeClr val="dk1"/>
              </a:buClr>
              <a:buSzPct val="100000"/>
              <a:buChar char="●"/>
            </a:pPr>
            <a:r>
              <a:rPr lang="en-US" sz="3200">
                <a:solidFill>
                  <a:schemeClr val="dk1"/>
                </a:solidFill>
                <a:latin typeface="Calibri"/>
                <a:ea typeface="Calibri"/>
                <a:cs typeface="Calibri"/>
                <a:sym typeface="Calibri"/>
              </a:rPr>
              <a:t>CRM102 → Inserted OR Skipped → Logged in SyncLog</a:t>
            </a:r>
            <a:endParaRPr sz="3200">
              <a:solidFill>
                <a:schemeClr val="dk1"/>
              </a:solidFill>
              <a:latin typeface="Calibri"/>
              <a:ea typeface="Calibri"/>
              <a:cs typeface="Calibri"/>
              <a:sym typeface="Calibri"/>
            </a:endParaRPr>
          </a:p>
          <a:p>
            <a:pPr indent="0" lvl="0" marL="0" rtl="0" algn="l">
              <a:spcBef>
                <a:spcPts val="1200"/>
              </a:spcBef>
              <a:spcAft>
                <a:spcPts val="0"/>
              </a:spcAft>
              <a:buNone/>
            </a:pPr>
            <a:r>
              <a:t/>
            </a:r>
            <a:endParaRPr/>
          </a:p>
          <a:p>
            <a:pPr indent="0" lvl="0" marL="0" rtl="0" algn="l">
              <a:lnSpc>
                <a:spcPct val="115000"/>
              </a:lnSpc>
              <a:spcBef>
                <a:spcPts val="1400"/>
              </a:spcBef>
              <a:spcAft>
                <a:spcPts val="0"/>
              </a:spcAft>
              <a:buNone/>
            </a:pPr>
            <a:r>
              <a:rPr b="1" lang="en-US" sz="1400">
                <a:latin typeface="Arial"/>
                <a:ea typeface="Arial"/>
                <a:cs typeface="Arial"/>
                <a:sym typeface="Arial"/>
              </a:rPr>
              <a:t>New Customer Insert</a:t>
            </a:r>
            <a:endParaRPr b="1" sz="1400">
              <a:latin typeface="Arial"/>
              <a:ea typeface="Arial"/>
              <a:cs typeface="Arial"/>
              <a:sym typeface="Arial"/>
            </a:endParaRPr>
          </a:p>
          <a:p>
            <a:pPr indent="0" lvl="0" marL="0" rtl="0" algn="l">
              <a:lnSpc>
                <a:spcPct val="115000"/>
              </a:lnSpc>
              <a:spcBef>
                <a:spcPts val="400"/>
              </a:spcBef>
              <a:spcAft>
                <a:spcPts val="0"/>
              </a:spcAft>
              <a:buNone/>
            </a:pPr>
            <a:r>
              <a:rPr lang="en-US" sz="1400">
                <a:latin typeface="Arial"/>
                <a:ea typeface="Arial"/>
                <a:cs typeface="Arial"/>
                <a:sym typeface="Arial"/>
              </a:rPr>
              <a:t>Request → CRM102</a:t>
            </a:r>
            <a:endParaRPr sz="1400">
              <a:latin typeface="Arial"/>
              <a:ea typeface="Arial"/>
              <a:cs typeface="Arial"/>
              <a:sym typeface="Arial"/>
            </a:endParaRPr>
          </a:p>
          <a:p>
            <a:pPr indent="0" lvl="0" marL="0" rtl="0" algn="l">
              <a:lnSpc>
                <a:spcPct val="115000"/>
              </a:lnSpc>
              <a:spcBef>
                <a:spcPts val="1200"/>
              </a:spcBef>
              <a:spcAft>
                <a:spcPts val="0"/>
              </a:spcAft>
              <a:buNone/>
            </a:pPr>
            <a:r>
              <a:rPr lang="en-US" sz="1400">
                <a:latin typeface="Arial"/>
                <a:ea typeface="Arial"/>
                <a:cs typeface="Arial"/>
                <a:sym typeface="Arial"/>
              </a:rPr>
              <a:t>Result → Inserted into Customer</a:t>
            </a:r>
            <a:endParaRPr sz="1400">
              <a:latin typeface="Arial"/>
              <a:ea typeface="Arial"/>
              <a:cs typeface="Arial"/>
              <a:sym typeface="Arial"/>
            </a:endParaRPr>
          </a:p>
          <a:p>
            <a:pPr indent="0" lvl="0" marL="0" rtl="0" algn="l">
              <a:lnSpc>
                <a:spcPct val="115000"/>
              </a:lnSpc>
              <a:spcBef>
                <a:spcPts val="1200"/>
              </a:spcBef>
              <a:spcAft>
                <a:spcPts val="0"/>
              </a:spcAft>
              <a:buNone/>
            </a:pPr>
            <a:r>
              <a:rPr lang="en-US" sz="1400">
                <a:latin typeface="Arial"/>
                <a:ea typeface="Arial"/>
                <a:cs typeface="Arial"/>
                <a:sym typeface="Arial"/>
              </a:rPr>
              <a:t>Log → Success recorded in SyncLog</a:t>
            </a:r>
            <a:endParaRPr sz="1400">
              <a:latin typeface="Arial"/>
              <a:ea typeface="Arial"/>
              <a:cs typeface="Arial"/>
              <a:sym typeface="Arial"/>
            </a:endParaRPr>
          </a:p>
          <a:p>
            <a:pPr indent="0" lvl="0" marL="0" rtl="0" algn="l">
              <a:lnSpc>
                <a:spcPct val="115000"/>
              </a:lnSpc>
              <a:spcBef>
                <a:spcPts val="1400"/>
              </a:spcBef>
              <a:spcAft>
                <a:spcPts val="0"/>
              </a:spcAft>
              <a:buNone/>
            </a:pPr>
            <a:r>
              <a:rPr b="1" lang="en-US" sz="1400">
                <a:latin typeface="Arial"/>
                <a:ea typeface="Arial"/>
                <a:cs typeface="Arial"/>
                <a:sym typeface="Arial"/>
              </a:rPr>
              <a:t>Duplicate Detection</a:t>
            </a:r>
            <a:endParaRPr b="1" sz="1400">
              <a:latin typeface="Arial"/>
              <a:ea typeface="Arial"/>
              <a:cs typeface="Arial"/>
              <a:sym typeface="Arial"/>
            </a:endParaRPr>
          </a:p>
          <a:p>
            <a:pPr indent="0" lvl="0" marL="0" rtl="0" algn="l">
              <a:lnSpc>
                <a:spcPct val="115000"/>
              </a:lnSpc>
              <a:spcBef>
                <a:spcPts val="400"/>
              </a:spcBef>
              <a:spcAft>
                <a:spcPts val="0"/>
              </a:spcAft>
              <a:buNone/>
            </a:pPr>
            <a:r>
              <a:rPr lang="en-US" sz="1400">
                <a:latin typeface="Arial"/>
                <a:ea typeface="Arial"/>
                <a:cs typeface="Arial"/>
                <a:sym typeface="Arial"/>
              </a:rPr>
              <a:t>Request → CRM102 (existing)</a:t>
            </a:r>
            <a:endParaRPr sz="1400">
              <a:latin typeface="Arial"/>
              <a:ea typeface="Arial"/>
              <a:cs typeface="Arial"/>
              <a:sym typeface="Arial"/>
            </a:endParaRPr>
          </a:p>
          <a:p>
            <a:pPr indent="0" lvl="0" marL="0" rtl="0" algn="l">
              <a:lnSpc>
                <a:spcPct val="115000"/>
              </a:lnSpc>
              <a:spcBef>
                <a:spcPts val="1200"/>
              </a:spcBef>
              <a:spcAft>
                <a:spcPts val="0"/>
              </a:spcAft>
              <a:buNone/>
            </a:pPr>
            <a:r>
              <a:rPr lang="en-US" sz="1400">
                <a:latin typeface="Arial"/>
                <a:ea typeface="Arial"/>
                <a:cs typeface="Arial"/>
                <a:sym typeface="Arial"/>
              </a:rPr>
              <a:t>Result → Insert skipped</a:t>
            </a:r>
            <a:endParaRPr sz="1400">
              <a:latin typeface="Arial"/>
              <a:ea typeface="Arial"/>
              <a:cs typeface="Arial"/>
              <a:sym typeface="Arial"/>
            </a:endParaRPr>
          </a:p>
          <a:p>
            <a:pPr indent="0" lvl="0" marL="0" rtl="0" algn="l">
              <a:lnSpc>
                <a:spcPct val="115000"/>
              </a:lnSpc>
              <a:spcBef>
                <a:spcPts val="1200"/>
              </a:spcBef>
              <a:spcAft>
                <a:spcPts val="0"/>
              </a:spcAft>
              <a:buNone/>
            </a:pPr>
            <a:r>
              <a:rPr lang="en-US" sz="1400">
                <a:latin typeface="Arial"/>
                <a:ea typeface="Arial"/>
                <a:cs typeface="Arial"/>
                <a:sym typeface="Arial"/>
              </a:rPr>
              <a:t>Log → "Skipped - Already Exists"</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ct val="100000"/>
              <a:buFont typeface="Arial"/>
              <a:buNone/>
            </a:pPr>
            <a:r>
              <a:t/>
            </a:r>
            <a:endParaRPr sz="1100">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f20ccbc9fc_3_48"/>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301" name="Google Shape;301;g3f20ccbc9fc_3_48"/>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302" name="Google Shape;302;g3f20ccbc9fc_3_48"/>
          <p:cNvPicPr preferRelativeResize="0"/>
          <p:nvPr/>
        </p:nvPicPr>
        <p:blipFill>
          <a:blip r:embed="rId3">
            <a:alphaModFix/>
          </a:blip>
          <a:stretch>
            <a:fillRect/>
          </a:stretch>
        </p:blipFill>
        <p:spPr>
          <a:xfrm>
            <a:off x="0" y="381000"/>
            <a:ext cx="9144000" cy="6096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f20ccbc9fc_3_4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Audit Logging System </a:t>
            </a:r>
            <a:endParaRPr/>
          </a:p>
        </p:txBody>
      </p:sp>
      <p:sp>
        <p:nvSpPr>
          <p:cNvPr id="308" name="Google Shape;308;g3f20ccbc9fc_3_4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US" sz="1400">
                <a:latin typeface="Arial"/>
                <a:ea typeface="Arial"/>
                <a:cs typeface="Arial"/>
                <a:sym typeface="Arial"/>
              </a:rPr>
              <a:t>Records all operations in </a:t>
            </a:r>
            <a:r>
              <a:rPr lang="en-US" sz="1400">
                <a:solidFill>
                  <a:srgbClr val="188038"/>
                </a:solidFill>
                <a:latin typeface="Roboto Mono"/>
                <a:ea typeface="Roboto Mono"/>
                <a:cs typeface="Roboto Mono"/>
                <a:sym typeface="Roboto Mono"/>
              </a:rPr>
              <a:t>SyncLog</a:t>
            </a:r>
            <a:endParaRPr sz="1400">
              <a:solidFill>
                <a:srgbClr val="188038"/>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US" sz="1400">
                <a:latin typeface="Arial"/>
                <a:ea typeface="Arial"/>
                <a:cs typeface="Arial"/>
                <a:sym typeface="Arial"/>
              </a:rPr>
              <a:t>Tracks:</a:t>
            </a:r>
            <a:endParaRPr sz="1400">
              <a:latin typeface="Arial"/>
              <a:ea typeface="Arial"/>
              <a:cs typeface="Arial"/>
              <a:sym typeface="Arial"/>
            </a:endParaRPr>
          </a:p>
          <a:p>
            <a:pPr indent="-317500" lvl="0" marL="457200" rtl="0" algn="l">
              <a:lnSpc>
                <a:spcPct val="115000"/>
              </a:lnSpc>
              <a:spcBef>
                <a:spcPts val="1200"/>
              </a:spcBef>
              <a:spcAft>
                <a:spcPts val="0"/>
              </a:spcAft>
              <a:buSzPts val="1400"/>
              <a:buChar char="●"/>
            </a:pPr>
            <a:r>
              <a:rPr lang="en-US" sz="1400">
                <a:latin typeface="Arial"/>
                <a:ea typeface="Arial"/>
                <a:cs typeface="Arial"/>
                <a:sym typeface="Arial"/>
              </a:rPr>
              <a:t>Successful inserts</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Duplicate attempts (“Skipped”)</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400">
                <a:latin typeface="Arial"/>
                <a:ea typeface="Arial"/>
                <a:cs typeface="Arial"/>
                <a:sym typeface="Arial"/>
              </a:rPr>
              <a:t>Provides full traceability of system activity</a:t>
            </a:r>
            <a:endParaRPr sz="1400">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US"/>
              <a:t>SQL Query:</a:t>
            </a:r>
            <a:endParaRPr/>
          </a:p>
          <a:p>
            <a:pPr indent="0" lvl="0" marL="0" rtl="0" algn="l">
              <a:spcBef>
                <a:spcPts val="1200"/>
              </a:spcBef>
              <a:spcAft>
                <a:spcPts val="0"/>
              </a:spcAft>
              <a:buNone/>
            </a:pPr>
            <a:r>
              <a:rPr lang="en-US" sz="900">
                <a:solidFill>
                  <a:srgbClr val="0000FF"/>
                </a:solidFill>
                <a:latin typeface="Arial"/>
                <a:ea typeface="Arial"/>
                <a:cs typeface="Arial"/>
                <a:sym typeface="Arial"/>
              </a:rPr>
              <a:t>SELECT</a:t>
            </a:r>
            <a:r>
              <a:rPr lang="en-US" sz="900">
                <a:solidFill>
                  <a:srgbClr val="000000"/>
                </a:solidFill>
                <a:latin typeface="Arial"/>
                <a:ea typeface="Arial"/>
                <a:cs typeface="Arial"/>
                <a:sym typeface="Arial"/>
              </a:rPr>
              <a:t> </a:t>
            </a:r>
            <a:r>
              <a:rPr lang="en-US" sz="900">
                <a:solidFill>
                  <a:srgbClr val="808080"/>
                </a:solidFill>
                <a:latin typeface="Arial"/>
                <a:ea typeface="Arial"/>
                <a:cs typeface="Arial"/>
                <a:sym typeface="Arial"/>
              </a:rPr>
              <a:t>*</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FROM</a:t>
            </a:r>
            <a:r>
              <a:rPr lang="en-US" sz="900">
                <a:solidFill>
                  <a:srgbClr val="000000"/>
                </a:solidFill>
                <a:latin typeface="Arial"/>
                <a:ea typeface="Arial"/>
                <a:cs typeface="Arial"/>
                <a:sym typeface="Arial"/>
              </a:rPr>
              <a:t> SyncLog</a:t>
            </a:r>
            <a:r>
              <a:rPr lang="en-US" sz="900">
                <a:solidFill>
                  <a:srgbClr val="808080"/>
                </a:solidFill>
                <a:latin typeface="Arial"/>
                <a:ea typeface="Arial"/>
                <a:cs typeface="Arial"/>
                <a:sym typeface="Arial"/>
              </a:rPr>
              <a:t>;</a:t>
            </a:r>
            <a:endParaRPr sz="900">
              <a:solidFill>
                <a:srgbClr val="000000"/>
              </a:solidFill>
              <a:latin typeface="Arial"/>
              <a:ea typeface="Arial"/>
              <a:cs typeface="Arial"/>
              <a:sym typeface="Arial"/>
            </a:endParaRPr>
          </a:p>
          <a:p>
            <a:pPr indent="0" lvl="0" marL="0" rtl="0" algn="l">
              <a:spcBef>
                <a:spcPts val="1200"/>
              </a:spcBef>
              <a:spcAft>
                <a:spcPts val="0"/>
              </a:spcAft>
              <a:buNone/>
            </a:pPr>
            <a:r>
              <a:t/>
            </a:r>
            <a:endParaRPr sz="9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Technical Highlights</a:t>
            </a:r>
            <a:endParaRPr/>
          </a:p>
        </p:txBody>
      </p:sp>
      <p:sp>
        <p:nvSpPr>
          <p:cNvPr id="314" name="Google Shape;314;p10"/>
          <p:cNvSpPr txBox="1"/>
          <p:nvPr>
            <p:ph idx="1" type="body"/>
          </p:nvPr>
        </p:nvSpPr>
        <p:spPr>
          <a:xfrm>
            <a:off x="0" y="1417650"/>
            <a:ext cx="8229600" cy="4526100"/>
          </a:xfrm>
          <a:prstGeom prst="rect">
            <a:avLst/>
          </a:prstGeom>
          <a:noFill/>
          <a:ln>
            <a:noFill/>
          </a:ln>
        </p:spPr>
        <p:txBody>
          <a:bodyPr anchorCtr="0" anchor="t" bIns="45700" lIns="91425" spcFirstLastPara="1" rIns="91425" wrap="square" tIns="45700">
            <a:normAutofit/>
          </a:bodyPr>
          <a:lstStyle/>
          <a:p>
            <a:pPr indent="0" lvl="0" marL="342900" rtl="0" algn="l">
              <a:spcBef>
                <a:spcPts val="0"/>
              </a:spcBef>
              <a:spcAft>
                <a:spcPts val="0"/>
              </a:spcAft>
              <a:buNone/>
            </a:pPr>
            <a:r>
              <a:t/>
            </a:r>
            <a:endParaRPr sz="1400"/>
          </a:p>
          <a:p>
            <a:pPr indent="-317500" lvl="0" marL="457200" rtl="0" algn="l">
              <a:spcBef>
                <a:spcPts val="1200"/>
              </a:spcBef>
              <a:spcAft>
                <a:spcPts val="0"/>
              </a:spcAft>
              <a:buSzPts val="1400"/>
              <a:buChar char="●"/>
            </a:pPr>
            <a:r>
              <a:rPr lang="en-US" sz="1400"/>
              <a:t>ASP.NET Core Web API (.NET 8)</a:t>
            </a:r>
            <a:endParaRPr sz="1400"/>
          </a:p>
          <a:p>
            <a:pPr indent="-317500" lvl="0" marL="457200" rtl="0" algn="l">
              <a:spcBef>
                <a:spcPts val="0"/>
              </a:spcBef>
              <a:spcAft>
                <a:spcPts val="0"/>
              </a:spcAft>
              <a:buSzPts val="1400"/>
              <a:buChar char="●"/>
            </a:pPr>
            <a:r>
              <a:rPr lang="en-US" sz="1400"/>
              <a:t>SQL Server stored procedures</a:t>
            </a:r>
            <a:endParaRPr sz="1400"/>
          </a:p>
          <a:p>
            <a:pPr indent="-317500" lvl="0" marL="457200" rtl="0" algn="l">
              <a:spcBef>
                <a:spcPts val="0"/>
              </a:spcBef>
              <a:spcAft>
                <a:spcPts val="0"/>
              </a:spcAft>
              <a:buSzPts val="1400"/>
              <a:buChar char="●"/>
            </a:pPr>
            <a:r>
              <a:rPr lang="en-US" sz="1400"/>
              <a:t>REST API integration</a:t>
            </a:r>
            <a:endParaRPr sz="1400"/>
          </a:p>
          <a:p>
            <a:pPr indent="-317500" lvl="0" marL="457200" rtl="0" algn="l">
              <a:spcBef>
                <a:spcPts val="0"/>
              </a:spcBef>
              <a:spcAft>
                <a:spcPts val="0"/>
              </a:spcAft>
              <a:buSzPts val="1400"/>
              <a:buChar char="●"/>
            </a:pPr>
            <a:r>
              <a:rPr lang="en-US" sz="1400"/>
              <a:t>Audit logging system</a:t>
            </a:r>
            <a:endParaRPr sz="1400"/>
          </a:p>
          <a:p>
            <a:pPr indent="-317500" lvl="0" marL="457200" rtl="0" algn="l">
              <a:spcBef>
                <a:spcPts val="0"/>
              </a:spcBef>
              <a:spcAft>
                <a:spcPts val="0"/>
              </a:spcAft>
              <a:buSzPts val="1400"/>
              <a:buChar char="●"/>
            </a:pPr>
            <a:r>
              <a:rPr lang="en-US" sz="1400"/>
              <a:t>Duplicate prevention logic</a:t>
            </a:r>
            <a:endParaRPr sz="1400"/>
          </a:p>
          <a:p>
            <a:pPr indent="-317500" lvl="0" marL="457200" rtl="0" algn="l">
              <a:spcBef>
                <a:spcPts val="0"/>
              </a:spcBef>
              <a:spcAft>
                <a:spcPts val="0"/>
              </a:spcAft>
              <a:buSzPts val="1400"/>
              <a:buChar char="●"/>
            </a:pPr>
            <a:r>
              <a:rPr lang="en-US" sz="1400"/>
              <a:t>Structured error handling</a:t>
            </a:r>
            <a:endParaRPr sz="1400"/>
          </a:p>
          <a:p>
            <a:pPr indent="0" lvl="0" marL="0" rtl="0" algn="l">
              <a:spcBef>
                <a:spcPts val="1200"/>
              </a:spcBef>
              <a:spcAft>
                <a:spcPts val="12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Systems Analysis</a:t>
            </a:r>
            <a:endParaRPr/>
          </a:p>
        </p:txBody>
      </p:sp>
      <p:sp>
        <p:nvSpPr>
          <p:cNvPr id="320" name="Google Shape;320;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sz="3200">
                <a:solidFill>
                  <a:schemeClr val="dk1"/>
                </a:solidFill>
                <a:latin typeface="Calibri"/>
                <a:ea typeface="Calibri"/>
                <a:cs typeface="Calibri"/>
                <a:sym typeface="Calibri"/>
              </a:rPr>
              <a:t>Demonstrates enterprise integration patterns and data flow design</a:t>
            </a:r>
            <a:endParaRPr sz="3200">
              <a:solidFill>
                <a:schemeClr val="dk1"/>
              </a:solidFill>
              <a:latin typeface="Calibri"/>
              <a:ea typeface="Calibri"/>
              <a:cs typeface="Calibri"/>
              <a:sym typeface="Calibri"/>
            </a:endParaRPr>
          </a:p>
          <a:p>
            <a:pPr indent="0" lvl="0" marL="0" rtl="0" algn="l">
              <a:spcBef>
                <a:spcPts val="120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lang="en-US" sz="1400"/>
              <a:t>This project demonstrates:</a:t>
            </a:r>
            <a:endParaRPr sz="1400"/>
          </a:p>
          <a:p>
            <a:pPr indent="-317500" lvl="0" marL="457200" rtl="0" algn="l">
              <a:lnSpc>
                <a:spcPct val="115000"/>
              </a:lnSpc>
              <a:spcBef>
                <a:spcPts val="1200"/>
              </a:spcBef>
              <a:spcAft>
                <a:spcPts val="0"/>
              </a:spcAft>
              <a:buSzPts val="1400"/>
              <a:buChar char="●"/>
            </a:pPr>
            <a:r>
              <a:rPr lang="en-US" sz="1400"/>
              <a:t>Understanding of data flow across systems</a:t>
            </a:r>
            <a:endParaRPr sz="1400"/>
          </a:p>
          <a:p>
            <a:pPr indent="-317500" lvl="0" marL="457200" rtl="0" algn="l">
              <a:lnSpc>
                <a:spcPct val="115000"/>
              </a:lnSpc>
              <a:spcBef>
                <a:spcPts val="0"/>
              </a:spcBef>
              <a:spcAft>
                <a:spcPts val="0"/>
              </a:spcAft>
              <a:buSzPts val="1400"/>
              <a:buChar char="●"/>
            </a:pPr>
            <a:r>
              <a:rPr lang="en-US" sz="1400"/>
              <a:t>Separation of application and database logic</a:t>
            </a:r>
            <a:endParaRPr sz="1400"/>
          </a:p>
          <a:p>
            <a:pPr indent="-317500" lvl="0" marL="457200" rtl="0" algn="l">
              <a:lnSpc>
                <a:spcPct val="115000"/>
              </a:lnSpc>
              <a:spcBef>
                <a:spcPts val="0"/>
              </a:spcBef>
              <a:spcAft>
                <a:spcPts val="0"/>
              </a:spcAft>
              <a:buSzPts val="1400"/>
              <a:buChar char="●"/>
            </a:pPr>
            <a:r>
              <a:rPr lang="en-US" sz="1400"/>
              <a:t>Enterprise integration patterns</a:t>
            </a:r>
            <a:endParaRPr sz="1400"/>
          </a:p>
          <a:p>
            <a:pPr indent="-317500" lvl="0" marL="457200" rtl="0" algn="l">
              <a:lnSpc>
                <a:spcPct val="115000"/>
              </a:lnSpc>
              <a:spcBef>
                <a:spcPts val="0"/>
              </a:spcBef>
              <a:spcAft>
                <a:spcPts val="0"/>
              </a:spcAft>
              <a:buSzPts val="1400"/>
              <a:buChar char="●"/>
            </a:pPr>
            <a:r>
              <a:rPr lang="en-US" sz="1400"/>
              <a:t>Database-driven business rules</a:t>
            </a:r>
            <a:endParaRPr sz="1400"/>
          </a:p>
          <a:p>
            <a:pPr indent="-317500" lvl="0" marL="457200" rtl="0" algn="l">
              <a:lnSpc>
                <a:spcPct val="115000"/>
              </a:lnSpc>
              <a:spcBef>
                <a:spcPts val="0"/>
              </a:spcBef>
              <a:spcAft>
                <a:spcPts val="0"/>
              </a:spcAft>
              <a:buSzPts val="1400"/>
              <a:buChar char="●"/>
            </a:pPr>
            <a:r>
              <a:rPr lang="en-US" sz="1400"/>
              <a:t>Auditability and traceability design</a:t>
            </a:r>
            <a:endParaRPr sz="14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f20ccbc9fc_3_2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Error Handling &amp; Validation </a:t>
            </a:r>
            <a:endParaRPr/>
          </a:p>
        </p:txBody>
      </p:sp>
      <p:sp>
        <p:nvSpPr>
          <p:cNvPr id="326" name="Google Shape;326;g3f20ccbc9fc_3_2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317500" lvl="0" marL="457200" rtl="0" algn="l">
              <a:spcBef>
                <a:spcPts val="360"/>
              </a:spcBef>
              <a:spcAft>
                <a:spcPts val="0"/>
              </a:spcAft>
              <a:buSzPts val="1400"/>
              <a:buChar char="●"/>
            </a:pPr>
            <a:r>
              <a:rPr lang="en-US" sz="1400"/>
              <a:t>API-level validation for input data</a:t>
            </a:r>
            <a:endParaRPr sz="1400"/>
          </a:p>
          <a:p>
            <a:pPr indent="-317500" lvl="0" marL="457200" rtl="0" algn="l">
              <a:spcBef>
                <a:spcPts val="0"/>
              </a:spcBef>
              <a:spcAft>
                <a:spcPts val="0"/>
              </a:spcAft>
              <a:buSzPts val="1400"/>
              <a:buChar char="●"/>
            </a:pPr>
            <a:r>
              <a:rPr lang="en-US" sz="1400"/>
              <a:t>Structured exception handling</a:t>
            </a:r>
            <a:endParaRPr sz="1400"/>
          </a:p>
          <a:p>
            <a:pPr indent="-317500" lvl="0" marL="457200" rtl="0" algn="l">
              <a:spcBef>
                <a:spcPts val="0"/>
              </a:spcBef>
              <a:spcAft>
                <a:spcPts val="0"/>
              </a:spcAft>
              <a:buSzPts val="1400"/>
              <a:buChar char="●"/>
            </a:pPr>
            <a:r>
              <a:rPr lang="en-US" sz="1400"/>
              <a:t>Clear HTTP response messages</a:t>
            </a:r>
            <a:endParaRPr sz="1400"/>
          </a:p>
          <a:p>
            <a:pPr indent="0" lvl="0" marL="0" rtl="0" algn="l">
              <a:spcBef>
                <a:spcPts val="1200"/>
              </a:spcBef>
              <a:spcAft>
                <a:spcPts val="12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Testing</a:t>
            </a:r>
            <a:endParaRPr/>
          </a:p>
        </p:txBody>
      </p:sp>
      <p:sp>
        <p:nvSpPr>
          <p:cNvPr id="332" name="Google Shape;332;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17500" lvl="0" marL="457200" rtl="0" algn="l">
              <a:spcBef>
                <a:spcPts val="0"/>
              </a:spcBef>
              <a:spcAft>
                <a:spcPts val="0"/>
              </a:spcAft>
              <a:buSzPts val="1400"/>
              <a:buAutoNum type="arabicPeriod"/>
            </a:pPr>
            <a:r>
              <a:rPr lang="en-US" sz="1400"/>
              <a:t>xUnit Integration Tests</a:t>
            </a:r>
            <a:endParaRPr sz="1400"/>
          </a:p>
          <a:p>
            <a:pPr indent="-317500" lvl="0" marL="457200" rtl="0" algn="l">
              <a:spcBef>
                <a:spcPts val="0"/>
              </a:spcBef>
              <a:spcAft>
                <a:spcPts val="0"/>
              </a:spcAft>
              <a:buSzPts val="1400"/>
              <a:buAutoNum type="arabicPeriod"/>
            </a:pPr>
            <a:r>
              <a:rPr lang="en-US" sz="1400"/>
              <a:t>Validation Tests</a:t>
            </a:r>
            <a:endParaRPr sz="1400"/>
          </a:p>
          <a:p>
            <a:pPr indent="-317500" lvl="0" marL="457200" rtl="0" algn="l">
              <a:spcBef>
                <a:spcPts val="0"/>
              </a:spcBef>
              <a:spcAft>
                <a:spcPts val="0"/>
              </a:spcAft>
              <a:buSzPts val="1400"/>
              <a:buAutoNum type="arabicPeriod"/>
            </a:pPr>
            <a:r>
              <a:rPr lang="en-US" sz="1400"/>
              <a:t>Authentication Tests</a:t>
            </a:r>
            <a:endParaRPr sz="1400"/>
          </a:p>
          <a:p>
            <a:pPr indent="-317500" lvl="0" marL="457200" rtl="0" algn="l">
              <a:spcBef>
                <a:spcPts val="0"/>
              </a:spcBef>
              <a:spcAft>
                <a:spcPts val="0"/>
              </a:spcAft>
              <a:buSzPts val="1400"/>
              <a:buAutoNum type="arabicPeriod"/>
            </a:pPr>
            <a:r>
              <a:rPr lang="en-US" sz="1400"/>
              <a:t>Authorization Tests</a:t>
            </a:r>
            <a:endParaRPr sz="1400"/>
          </a:p>
          <a:p>
            <a:pPr indent="0" lvl="0" marL="0" rtl="0" algn="l">
              <a:spcBef>
                <a:spcPts val="1200"/>
              </a:spcBef>
              <a:spcAft>
                <a:spcPts val="0"/>
              </a:spcAft>
              <a:buNone/>
            </a:pPr>
            <a:r>
              <a:rPr lang="en-US" sz="1400"/>
              <a:t>Mention:</a:t>
            </a:r>
            <a:endParaRPr sz="1400"/>
          </a:p>
          <a:p>
            <a:pPr indent="0" lvl="0" marL="381000" marR="381000" rtl="0" algn="l">
              <a:spcBef>
                <a:spcPts val="1200"/>
              </a:spcBef>
              <a:spcAft>
                <a:spcPts val="0"/>
              </a:spcAft>
              <a:buNone/>
            </a:pPr>
            <a:r>
              <a:rPr lang="en-US" sz="1400"/>
              <a:t>"I added automated integration tests to verify both business logic and API security."</a:t>
            </a:r>
            <a:endParaRPr sz="1400"/>
          </a:p>
          <a:p>
            <a:pPr indent="0" lvl="0" marL="0" rtl="0" algn="l">
              <a:lnSpc>
                <a:spcPct val="115000"/>
              </a:lnSpc>
              <a:spcBef>
                <a:spcPts val="1200"/>
              </a:spcBef>
              <a:spcAft>
                <a:spcPts val="0"/>
              </a:spcAft>
              <a:buNone/>
            </a:pPr>
            <a:r>
              <a:t/>
            </a:r>
            <a:endParaRPr sz="1400"/>
          </a:p>
          <a:p>
            <a:pPr indent="0" lvl="0" marL="0" rtl="0" algn="l">
              <a:spcBef>
                <a:spcPts val="1200"/>
              </a:spcBef>
              <a:spcAft>
                <a:spcPts val="12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f20ccbc9fc_3_13"/>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End-to-End Testing </a:t>
            </a:r>
            <a:endParaRPr/>
          </a:p>
        </p:txBody>
      </p:sp>
      <p:sp>
        <p:nvSpPr>
          <p:cNvPr id="338" name="Google Shape;338;g3f20ccbc9fc_3_13"/>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317500" lvl="0" marL="457200" rtl="0" algn="l">
              <a:spcBef>
                <a:spcPts val="360"/>
              </a:spcBef>
              <a:spcAft>
                <a:spcPts val="0"/>
              </a:spcAft>
              <a:buSzPts val="1400"/>
              <a:buAutoNum type="arabicPeriod"/>
            </a:pPr>
            <a:r>
              <a:rPr lang="en-US" sz="1400"/>
              <a:t>Swagger UI for API testing</a:t>
            </a:r>
            <a:endParaRPr sz="1400"/>
          </a:p>
          <a:p>
            <a:pPr indent="-317500" lvl="0" marL="457200" rtl="0" algn="l">
              <a:spcBef>
                <a:spcPts val="0"/>
              </a:spcBef>
              <a:spcAft>
                <a:spcPts val="0"/>
              </a:spcAft>
              <a:buSzPts val="1400"/>
              <a:buAutoNum type="arabicPeriod"/>
            </a:pPr>
            <a:r>
              <a:rPr lang="en-US" sz="1400"/>
              <a:t>SQL Server Management Studio (SSMS) for database validation</a:t>
            </a:r>
            <a:endParaRPr sz="1400"/>
          </a:p>
          <a:p>
            <a:pPr indent="-317500" lvl="0" marL="457200" rtl="0" algn="l">
              <a:spcBef>
                <a:spcPts val="0"/>
              </a:spcBef>
              <a:spcAft>
                <a:spcPts val="0"/>
              </a:spcAft>
              <a:buSzPts val="1400"/>
              <a:buAutoNum type="arabicPeriod"/>
            </a:pPr>
            <a:r>
              <a:rPr lang="en-US" sz="1400"/>
              <a:t>Verified full data flow from API → Database → Audit logs</a:t>
            </a:r>
            <a:endParaRPr sz="1400"/>
          </a:p>
          <a:p>
            <a:pPr indent="-317500" lvl="0" marL="457200" rtl="0" algn="l">
              <a:spcBef>
                <a:spcPts val="0"/>
              </a:spcBef>
              <a:spcAft>
                <a:spcPts val="0"/>
              </a:spcAft>
              <a:buSzPts val="1400"/>
              <a:buAutoNum type="arabicPeriod"/>
            </a:pPr>
            <a:r>
              <a:rPr lang="en-US" sz="1400"/>
              <a:t>Verified:</a:t>
            </a:r>
            <a:endParaRPr sz="1400"/>
          </a:p>
          <a:p>
            <a:pPr indent="-317500" lvl="0" marL="914400" rtl="0" algn="l">
              <a:spcBef>
                <a:spcPts val="0"/>
              </a:spcBef>
              <a:spcAft>
                <a:spcPts val="0"/>
              </a:spcAft>
              <a:buSzPts val="1400"/>
              <a:buChar char="●"/>
            </a:pPr>
            <a:r>
              <a:rPr lang="en-US" sz="1400"/>
              <a:t>Inserts</a:t>
            </a:r>
            <a:endParaRPr sz="1400"/>
          </a:p>
          <a:p>
            <a:pPr indent="-317500" lvl="0" marL="914400" rtl="0" algn="l">
              <a:spcBef>
                <a:spcPts val="0"/>
              </a:spcBef>
              <a:spcAft>
                <a:spcPts val="0"/>
              </a:spcAft>
              <a:buSzPts val="1400"/>
              <a:buChar char="●"/>
            </a:pPr>
            <a:r>
              <a:rPr lang="en-US" sz="1400"/>
              <a:t>Duplicate handling</a:t>
            </a:r>
            <a:endParaRPr sz="1400"/>
          </a:p>
          <a:p>
            <a:pPr indent="-317500" lvl="0" marL="914400" rtl="0" algn="l">
              <a:spcBef>
                <a:spcPts val="0"/>
              </a:spcBef>
              <a:spcAft>
                <a:spcPts val="0"/>
              </a:spcAft>
              <a:buSzPts val="1400"/>
              <a:buChar char="●"/>
            </a:pPr>
            <a:r>
              <a:rPr lang="en-US" sz="1400"/>
              <a:t>Audit logging</a:t>
            </a:r>
            <a:endParaRPr sz="1400"/>
          </a:p>
          <a:p>
            <a:pPr indent="0" lvl="0" marL="0" rtl="0" algn="l">
              <a:spcBef>
                <a:spcPts val="1200"/>
              </a:spcBef>
              <a:spcAft>
                <a:spcPts val="12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f24086cf93_1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800"/>
              </a:spcBef>
              <a:spcAft>
                <a:spcPts val="400"/>
              </a:spcAft>
              <a:buNone/>
            </a:pPr>
            <a:r>
              <a:rPr lang="en-US" sz="3000">
                <a:solidFill>
                  <a:srgbClr val="000000"/>
                </a:solidFill>
                <a:latin typeface="Arial"/>
                <a:ea typeface="Arial"/>
                <a:cs typeface="Arial"/>
                <a:sym typeface="Arial"/>
              </a:rPr>
              <a:t>Test Completion</a:t>
            </a:r>
            <a:endParaRPr sz="3000"/>
          </a:p>
        </p:txBody>
      </p:sp>
      <p:sp>
        <p:nvSpPr>
          <p:cNvPr id="344" name="Google Shape;344;g3f24086cf93_1_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1800"/>
              </a:spcBef>
              <a:spcAft>
                <a:spcPts val="0"/>
              </a:spcAft>
              <a:buNone/>
            </a:pPr>
            <a:r>
              <a:t/>
            </a:r>
            <a:endParaRPr b="1" sz="17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Testing is complete when:</a:t>
            </a:r>
            <a:endParaRPr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US" sz="1100">
                <a:solidFill>
                  <a:srgbClr val="000000"/>
                </a:solidFill>
                <a:latin typeface="Arial"/>
                <a:ea typeface="Arial"/>
                <a:cs typeface="Arial"/>
                <a:sym typeface="Arial"/>
              </a:rPr>
              <a:t>Login succeeds.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Create Customer succeeds.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Duplicate Customer returns HTTP 409.</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Get Customer returns HTTP 200.</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Update Customer returns HTTP 200.</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Delete Customer returns HTTP 200.</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Validation tests return the expected HTTP status codes.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No unexpected HTTP 500 Internal Server Errors are encountered.</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f20ccbc9fc_3_1688"/>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Resetting the test data</a:t>
            </a:r>
            <a:endParaRPr/>
          </a:p>
        </p:txBody>
      </p:sp>
      <p:sp>
        <p:nvSpPr>
          <p:cNvPr id="350" name="Google Shape;350;g3f20ccbc9fc_3_1688"/>
          <p:cNvSpPr txBox="1"/>
          <p:nvPr>
            <p:ph idx="1" type="body"/>
          </p:nvPr>
        </p:nvSpPr>
        <p:spPr>
          <a:xfrm>
            <a:off x="457200" y="1600200"/>
            <a:ext cx="8229600" cy="4526100"/>
          </a:xfrm>
          <a:prstGeom prst="rect">
            <a:avLst/>
          </a:prstGeom>
        </p:spPr>
        <p:txBody>
          <a:bodyPr anchorCtr="0" anchor="t" bIns="45700" lIns="91425" spcFirstLastPara="1" rIns="91425" wrap="square" tIns="45700">
            <a:normAutofit lnSpcReduction="20000"/>
          </a:bodyPr>
          <a:lstStyle/>
          <a:p>
            <a:pPr indent="0" lvl="0" marL="0" rtl="0" algn="l">
              <a:lnSpc>
                <a:spcPct val="100000"/>
              </a:lnSpc>
              <a:spcBef>
                <a:spcPts val="0"/>
              </a:spcBef>
              <a:spcAft>
                <a:spcPts val="0"/>
              </a:spcAft>
              <a:buNone/>
            </a:pPr>
            <a:r>
              <a:rPr lang="en-US" sz="900">
                <a:solidFill>
                  <a:srgbClr val="0000FF"/>
                </a:solidFill>
                <a:latin typeface="Arial"/>
                <a:ea typeface="Arial"/>
                <a:cs typeface="Arial"/>
                <a:sym typeface="Arial"/>
              </a:rPr>
              <a:t>TRUNCATE</a:t>
            </a:r>
            <a:r>
              <a:rPr lang="en-US" sz="900">
                <a:solidFill>
                  <a:srgbClr val="000000"/>
                </a:solidFill>
                <a:latin typeface="Arial"/>
                <a:ea typeface="Arial"/>
                <a:cs typeface="Arial"/>
                <a:sym typeface="Arial"/>
              </a:rPr>
              <a:t> </a:t>
            </a:r>
            <a:r>
              <a:rPr lang="en-US" sz="900">
                <a:solidFill>
                  <a:srgbClr val="0000FF"/>
                </a:solidFill>
                <a:latin typeface="Arial"/>
                <a:ea typeface="Arial"/>
                <a:cs typeface="Arial"/>
                <a:sym typeface="Arial"/>
              </a:rPr>
              <a:t>TABLE</a:t>
            </a:r>
            <a:r>
              <a:rPr lang="en-US" sz="900">
                <a:solidFill>
                  <a:srgbClr val="000000"/>
                </a:solidFill>
                <a:latin typeface="Arial"/>
                <a:ea typeface="Arial"/>
                <a:cs typeface="Arial"/>
                <a:sym typeface="Arial"/>
              </a:rPr>
              <a:t> Customer</a:t>
            </a:r>
            <a:r>
              <a:rPr lang="en-US" sz="900">
                <a:solidFill>
                  <a:srgbClr val="808080"/>
                </a:solidFill>
                <a:latin typeface="Arial"/>
                <a:ea typeface="Arial"/>
                <a:cs typeface="Arial"/>
                <a:sym typeface="Arial"/>
              </a:rPr>
              <a:t>;</a:t>
            </a:r>
            <a:endParaRPr sz="900">
              <a:solidFill>
                <a:srgbClr val="808080"/>
              </a:solidFill>
              <a:latin typeface="Arial"/>
              <a:ea typeface="Arial"/>
              <a:cs typeface="Arial"/>
              <a:sym typeface="Arial"/>
            </a:endParaRPr>
          </a:p>
          <a:p>
            <a:pPr indent="0" lvl="0" marL="0" rtl="0" algn="l">
              <a:lnSpc>
                <a:spcPct val="100000"/>
              </a:lnSpc>
              <a:spcBef>
                <a:spcPts val="0"/>
              </a:spcBef>
              <a:spcAft>
                <a:spcPts val="0"/>
              </a:spcAft>
              <a:buNone/>
            </a:pPr>
            <a:r>
              <a:t/>
            </a:r>
            <a:endParaRPr sz="900">
              <a:solidFill>
                <a:srgbClr val="808080"/>
              </a:solidFill>
              <a:latin typeface="Arial"/>
              <a:ea typeface="Arial"/>
              <a:cs typeface="Arial"/>
              <a:sym typeface="Arial"/>
            </a:endParaRPr>
          </a:p>
          <a:p>
            <a:pPr indent="0" lvl="0" marL="0" rtl="0" algn="l">
              <a:spcBef>
                <a:spcPts val="0"/>
              </a:spcBef>
              <a:spcAft>
                <a:spcPts val="0"/>
              </a:spcAft>
              <a:buNone/>
            </a:pP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"customerId": "CRM100",</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"firstName": "John",</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"lastName": "Smith",</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"email": "john@email.com",</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"phone": "6041234567"</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"customerId": "CRM101",</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"firstName": "Alice",</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"lastName": "Brown",</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"email": "alice@email.com",</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"phone": "7785552222"</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US" sz="1100">
                <a:solidFill>
                  <a:srgbClr val="000000"/>
                </a:solidFill>
                <a:latin typeface="Arial"/>
                <a:ea typeface="Arial"/>
                <a:cs typeface="Arial"/>
                <a:sym typeface="Arial"/>
              </a:rPr>
              <a:t>}</a:t>
            </a:r>
            <a:endParaRPr sz="2500">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f20ccbc9fc_3_1693"/>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Resetting the test data</a:t>
            </a:r>
            <a:endParaRPr/>
          </a:p>
        </p:txBody>
      </p:sp>
      <p:sp>
        <p:nvSpPr>
          <p:cNvPr id="356" name="Google Shape;356;g3f20ccbc9fc_3_1693"/>
          <p:cNvSpPr txBox="1"/>
          <p:nvPr>
            <p:ph idx="1" type="body"/>
          </p:nvPr>
        </p:nvSpPr>
        <p:spPr>
          <a:xfrm>
            <a:off x="457200" y="1600200"/>
            <a:ext cx="8229600" cy="4526100"/>
          </a:xfrm>
          <a:prstGeom prst="rect">
            <a:avLst/>
          </a:prstGeom>
        </p:spPr>
        <p:txBody>
          <a:bodyPr anchorCtr="0" anchor="t" bIns="45700" lIns="91425" spcFirstLastPara="1" rIns="91425" wrap="square" tIns="45700">
            <a:normAutofit lnSpcReduction="20000"/>
          </a:bodyPr>
          <a:lstStyle/>
          <a:p>
            <a:pPr indent="0" lvl="0" marL="0" rtl="0" algn="l">
              <a:spcBef>
                <a:spcPts val="0"/>
              </a:spcBef>
              <a:spcAft>
                <a:spcPts val="0"/>
              </a:spcAft>
              <a:buNone/>
            </a:pP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"customerId": "CRM102",</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"firstName": "Michael",</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"lastName": "Johnson",</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"email": "michael.johnson@email.com",</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"phone": "6049998888"</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"customerId": "CRM103",</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"firstName": "David",</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"lastName": "Wilson",</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"email": "david.wilson@email.com",</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  "phone": "7785553333"</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US" sz="1100">
                <a:solidFill>
                  <a:srgbClr val="000000"/>
                </a:solidFill>
                <a:latin typeface="Arial"/>
                <a:ea typeface="Arial"/>
                <a:cs typeface="Arial"/>
                <a:sym typeface="Arial"/>
              </a:rPr>
              <a:t>}</a:t>
            </a:r>
            <a:endParaRPr sz="2500">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f22c5e4d31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362" name="Google Shape;362;g3f22c5e4d31_0_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363" name="Google Shape;363;g3f22c5e4d31_0_0"/>
          <p:cNvPicPr preferRelativeResize="0"/>
          <p:nvPr/>
        </p:nvPicPr>
        <p:blipFill>
          <a:blip r:embed="rId3">
            <a:alphaModFix/>
          </a:blip>
          <a:stretch>
            <a:fillRect/>
          </a:stretch>
        </p:blipFill>
        <p:spPr>
          <a:xfrm>
            <a:off x="0" y="1084957"/>
            <a:ext cx="9144003" cy="4688087"/>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f22c5e4d31_0_1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Auth</a:t>
            </a:r>
            <a:endParaRPr/>
          </a:p>
        </p:txBody>
      </p:sp>
      <p:sp>
        <p:nvSpPr>
          <p:cNvPr id="369" name="Google Shape;369;g3f22c5e4d31_0_12"/>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marR="63500" rtl="0" algn="l">
              <a:spcBef>
                <a:spcPts val="0"/>
              </a:spcBef>
              <a:spcAft>
                <a:spcPts val="0"/>
              </a:spcAft>
              <a:buNone/>
            </a:pPr>
            <a:r>
              <a:rPr lang="en-US" sz="900">
                <a:solidFill>
                  <a:srgbClr val="A2FCA2"/>
                </a:solidFill>
                <a:highlight>
                  <a:srgbClr val="333333"/>
                </a:highlight>
                <a:latin typeface="Courier New"/>
                <a:ea typeface="Courier New"/>
                <a:cs typeface="Courier New"/>
                <a:sym typeface="Courier New"/>
              </a:rPr>
              <a:t>https://localhost:7087/api/Auth/login</a:t>
            </a:r>
            <a:endParaRPr sz="900">
              <a:solidFill>
                <a:srgbClr val="A2FCA2"/>
              </a:solidFill>
              <a:highlight>
                <a:srgbClr val="333333"/>
              </a:highlight>
              <a:latin typeface="Courier New"/>
              <a:ea typeface="Courier New"/>
              <a:cs typeface="Courier New"/>
              <a:sym typeface="Courier New"/>
            </a:endParaRPr>
          </a:p>
          <a:p>
            <a:pPr indent="0" lvl="0" marL="0" rtl="0" algn="l">
              <a:spcBef>
                <a:spcPts val="360"/>
              </a:spcBef>
              <a:spcAft>
                <a:spcPts val="0"/>
              </a:spcAft>
              <a:buNone/>
            </a:pPr>
            <a:r>
              <a:t/>
            </a:r>
            <a:endParaRPr/>
          </a:p>
          <a:p>
            <a:pPr indent="0" lvl="0" marL="0" rtl="0" algn="l">
              <a:spcBef>
                <a:spcPts val="1200"/>
              </a:spcBef>
              <a:spcAft>
                <a:spcPts val="0"/>
              </a:spcAft>
              <a:buNone/>
            </a:pPr>
            <a:r>
              <a:rPr lang="en-US" sz="900">
                <a:solidFill>
                  <a:srgbClr val="FFFFFF"/>
                </a:solidFill>
                <a:highlight>
                  <a:srgbClr val="333333"/>
                </a:highlight>
                <a:latin typeface="Courier New"/>
                <a:ea typeface="Courier New"/>
                <a:cs typeface="Courier New"/>
                <a:sym typeface="Courier New"/>
              </a:rPr>
              <a:t>{</a:t>
            </a:r>
            <a:endParaRPr sz="900">
              <a:solidFill>
                <a:srgbClr val="FFFFFF"/>
              </a:solidFill>
              <a:highlight>
                <a:srgbClr val="333333"/>
              </a:highlight>
              <a:latin typeface="Courier New"/>
              <a:ea typeface="Courier New"/>
              <a:cs typeface="Courier New"/>
              <a:sym typeface="Courier New"/>
            </a:endParaRPr>
          </a:p>
          <a:p>
            <a:pPr indent="0" lvl="0" marL="0" rtl="0" algn="l">
              <a:spcBef>
                <a:spcPts val="1200"/>
              </a:spcBef>
              <a:spcAft>
                <a:spcPts val="0"/>
              </a:spcAft>
              <a:buNone/>
            </a:pPr>
            <a:r>
              <a:rPr lang="en-US" sz="900">
                <a:solidFill>
                  <a:srgbClr val="FFFFFF"/>
                </a:solidFill>
                <a:highlight>
                  <a:srgbClr val="333333"/>
                </a:highlight>
                <a:latin typeface="Courier New"/>
                <a:ea typeface="Courier New"/>
                <a:cs typeface="Courier New"/>
                <a:sym typeface="Courier New"/>
              </a:rPr>
              <a:t>  "username": </a:t>
            </a:r>
            <a:r>
              <a:rPr lang="en-US" sz="900">
                <a:solidFill>
                  <a:srgbClr val="A2FCA2"/>
                </a:solidFill>
                <a:highlight>
                  <a:srgbClr val="333333"/>
                </a:highlight>
                <a:latin typeface="Courier New"/>
                <a:ea typeface="Courier New"/>
                <a:cs typeface="Courier New"/>
                <a:sym typeface="Courier New"/>
              </a:rPr>
              <a:t>"admin"</a:t>
            </a:r>
            <a:r>
              <a:rPr lang="en-US" sz="900">
                <a:solidFill>
                  <a:srgbClr val="FFFFFF"/>
                </a:solidFill>
                <a:highlight>
                  <a:srgbClr val="333333"/>
                </a:highlight>
                <a:latin typeface="Courier New"/>
                <a:ea typeface="Courier New"/>
                <a:cs typeface="Courier New"/>
                <a:sym typeface="Courier New"/>
              </a:rPr>
              <a:t>,</a:t>
            </a:r>
            <a:endParaRPr sz="900">
              <a:solidFill>
                <a:srgbClr val="FFFFFF"/>
              </a:solidFill>
              <a:highlight>
                <a:srgbClr val="333333"/>
              </a:highlight>
              <a:latin typeface="Courier New"/>
              <a:ea typeface="Courier New"/>
              <a:cs typeface="Courier New"/>
              <a:sym typeface="Courier New"/>
            </a:endParaRPr>
          </a:p>
          <a:p>
            <a:pPr indent="0" lvl="0" marL="0" rtl="0" algn="l">
              <a:spcBef>
                <a:spcPts val="1200"/>
              </a:spcBef>
              <a:spcAft>
                <a:spcPts val="0"/>
              </a:spcAft>
              <a:buNone/>
            </a:pPr>
            <a:r>
              <a:rPr lang="en-US" sz="900">
                <a:solidFill>
                  <a:srgbClr val="FFFFFF"/>
                </a:solidFill>
                <a:highlight>
                  <a:srgbClr val="333333"/>
                </a:highlight>
                <a:latin typeface="Courier New"/>
                <a:ea typeface="Courier New"/>
                <a:cs typeface="Courier New"/>
                <a:sym typeface="Courier New"/>
              </a:rPr>
              <a:t>  "password": </a:t>
            </a:r>
            <a:r>
              <a:rPr lang="en-US" sz="900">
                <a:solidFill>
                  <a:srgbClr val="A2FCA2"/>
                </a:solidFill>
                <a:highlight>
                  <a:srgbClr val="333333"/>
                </a:highlight>
                <a:latin typeface="Courier New"/>
                <a:ea typeface="Courier New"/>
                <a:cs typeface="Courier New"/>
                <a:sym typeface="Courier New"/>
              </a:rPr>
              <a:t>"Password123"</a:t>
            </a:r>
            <a:endParaRPr sz="900">
              <a:solidFill>
                <a:srgbClr val="FFFFFF"/>
              </a:solidFill>
              <a:highlight>
                <a:srgbClr val="333333"/>
              </a:highlight>
              <a:latin typeface="Courier New"/>
              <a:ea typeface="Courier New"/>
              <a:cs typeface="Courier New"/>
              <a:sym typeface="Courier New"/>
            </a:endParaRPr>
          </a:p>
          <a:p>
            <a:pPr indent="0" lvl="0" marL="63500" marR="63500" rtl="0" algn="l">
              <a:spcBef>
                <a:spcPts val="1200"/>
              </a:spcBef>
              <a:spcAft>
                <a:spcPts val="0"/>
              </a:spcAft>
              <a:buNone/>
            </a:pPr>
            <a:r>
              <a:rPr lang="en-US" sz="900">
                <a:solidFill>
                  <a:srgbClr val="FFFFFF"/>
                </a:solidFill>
                <a:highlight>
                  <a:srgbClr val="333333"/>
                </a:highlight>
                <a:latin typeface="Courier New"/>
                <a:ea typeface="Courier New"/>
                <a:cs typeface="Courier New"/>
                <a:sym typeface="Courier New"/>
              </a:rPr>
              <a:t>}</a:t>
            </a:r>
            <a:endParaRPr sz="900">
              <a:solidFill>
                <a:srgbClr val="FFFFFF"/>
              </a:solidFill>
              <a:highlight>
                <a:srgbClr val="333333"/>
              </a:highlight>
              <a:latin typeface="Courier New"/>
              <a:ea typeface="Courier New"/>
              <a:cs typeface="Courier New"/>
              <a:sym typeface="Courier New"/>
            </a:endParaRPr>
          </a:p>
          <a:p>
            <a:pPr indent="0" lvl="0" marL="63500" marR="63500" rtl="0" algn="l">
              <a:spcBef>
                <a:spcPts val="0"/>
              </a:spcBef>
              <a:spcAft>
                <a:spcPts val="0"/>
              </a:spcAft>
              <a:buNone/>
            </a:pPr>
            <a:r>
              <a:t/>
            </a:r>
            <a:endParaRPr sz="900">
              <a:solidFill>
                <a:srgbClr val="FFFFFF"/>
              </a:solidFill>
              <a:highlight>
                <a:srgbClr val="333333"/>
              </a:highlight>
              <a:latin typeface="Courier New"/>
              <a:ea typeface="Courier New"/>
              <a:cs typeface="Courier New"/>
              <a:sym typeface="Courier New"/>
            </a:endParaRPr>
          </a:p>
          <a:p>
            <a:pPr indent="0" lvl="0" marL="0" rtl="0" algn="l">
              <a:spcBef>
                <a:spcPts val="360"/>
              </a:spcBef>
              <a:spcAft>
                <a:spcPts val="0"/>
              </a:spcAft>
              <a:buNone/>
            </a:pPr>
            <a:r>
              <a:rPr lang="en-US"/>
              <a:t>token</a:t>
            </a:r>
            <a:endParaRPr/>
          </a:p>
          <a:p>
            <a:pPr indent="0" lvl="0" marL="0" rtl="0" algn="l">
              <a:spcBef>
                <a:spcPts val="1200"/>
              </a:spcBef>
              <a:spcAft>
                <a:spcPts val="0"/>
              </a:spcAft>
              <a:buNone/>
            </a:pPr>
            <a:r>
              <a:rPr lang="en-US"/>
              <a:t>header.payload.signature </a:t>
            </a:r>
            <a:endParaRPr/>
          </a:p>
          <a:p>
            <a:pPr indent="0" lvl="0" marL="63500" marR="63500" rtl="0" algn="l">
              <a:spcBef>
                <a:spcPts val="1200"/>
              </a:spcBef>
              <a:spcAft>
                <a:spcPts val="0"/>
              </a:spcAft>
              <a:buNone/>
            </a:pPr>
            <a:r>
              <a:rPr lang="en-US" sz="900">
                <a:solidFill>
                  <a:srgbClr val="A2FCA2"/>
                </a:solidFill>
                <a:highlight>
                  <a:srgbClr val="333333"/>
                </a:highlight>
                <a:latin typeface="Courier New"/>
                <a:ea typeface="Courier New"/>
                <a:cs typeface="Courier New"/>
                <a:sym typeface="Courier New"/>
              </a:rPr>
              <a:t>eyJhbGciOiJIUzI1NiIsInR5cCI6IkpXVCJ9.eyJodHRwOi8vc2NoZW1hcy54bWxzb2FwLm9yZy93cy8yMDA1LzA1L2lkZW50aXR5L2NsYWltcy9uYW1lIjoiYWRtaW4iLCJleHAiOjE3ODIyMDcyMzMsImlzcyI6IkRlbW9FUlBBcGkiLCJhdWQiOiJEZW1vRVJQQXBpVXNlcnMifQ.StHaTI93LX9s8uGXM1c5i2SI9b8AUcBYHjgGA030A9E</a:t>
            </a:r>
            <a:endParaRPr sz="900">
              <a:solidFill>
                <a:srgbClr val="A2FCA2"/>
              </a:solidFill>
              <a:highlight>
                <a:srgbClr val="333333"/>
              </a:highlight>
              <a:latin typeface="Courier New"/>
              <a:ea typeface="Courier New"/>
              <a:cs typeface="Courier New"/>
              <a:sym typeface="Courier New"/>
            </a:endParaRPr>
          </a:p>
          <a:p>
            <a:pPr indent="0" lvl="0" marL="63500" marR="63500" rtl="0" algn="l">
              <a:spcBef>
                <a:spcPts val="0"/>
              </a:spcBef>
              <a:spcAft>
                <a:spcPts val="0"/>
              </a:spcAft>
              <a:buNone/>
            </a:pPr>
            <a:r>
              <a:t/>
            </a:r>
            <a:endParaRPr sz="900">
              <a:solidFill>
                <a:srgbClr val="A2FCA2"/>
              </a:solidFill>
              <a:highlight>
                <a:srgbClr val="333333"/>
              </a:highlight>
              <a:latin typeface="Courier New"/>
              <a:ea typeface="Courier New"/>
              <a:cs typeface="Courier New"/>
              <a:sym typeface="Courier New"/>
            </a:endParaRPr>
          </a:p>
          <a:p>
            <a:pPr indent="0" lvl="0" marL="0" rtl="0" algn="l">
              <a:spcBef>
                <a:spcPts val="360"/>
              </a:spcBef>
              <a:spcAft>
                <a:spcPts val="12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3f22c5e4d31_0_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375" name="Google Shape;375;g3f22c5e4d31_0_6"/>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376" name="Google Shape;376;g3f22c5e4d31_0_6"/>
          <p:cNvPicPr preferRelativeResize="0"/>
          <p:nvPr/>
        </p:nvPicPr>
        <p:blipFill>
          <a:blip r:embed="rId3">
            <a:alphaModFix/>
          </a:blip>
          <a:stretch>
            <a:fillRect/>
          </a:stretch>
        </p:blipFill>
        <p:spPr>
          <a:xfrm>
            <a:off x="0" y="919855"/>
            <a:ext cx="9144000" cy="501829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g3f22c5e4d31_0_2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Q &amp; A</a:t>
            </a:r>
            <a:endParaRPr/>
          </a:p>
        </p:txBody>
      </p:sp>
      <p:sp>
        <p:nvSpPr>
          <p:cNvPr id="382" name="Google Shape;382;g3f22c5e4d31_0_26"/>
          <p:cNvSpPr txBox="1"/>
          <p:nvPr>
            <p:ph idx="1" type="body"/>
          </p:nvPr>
        </p:nvSpPr>
        <p:spPr>
          <a:xfrm>
            <a:off x="457200" y="1084275"/>
            <a:ext cx="8229600" cy="5563200"/>
          </a:xfrm>
          <a:prstGeom prst="rect">
            <a:avLst/>
          </a:prstGeom>
        </p:spPr>
        <p:txBody>
          <a:bodyPr anchorCtr="0" anchor="t" bIns="45700" lIns="91425" spcFirstLastPara="1" rIns="91425" wrap="square" tIns="45700">
            <a:normAutofit lnSpcReduction="10000"/>
          </a:bodyPr>
          <a:lstStyle/>
          <a:p>
            <a:pPr indent="0" lvl="0" marL="0" rtl="0" algn="l">
              <a:spcBef>
                <a:spcPts val="1200"/>
              </a:spcBef>
              <a:spcAft>
                <a:spcPts val="0"/>
              </a:spcAft>
              <a:buNone/>
            </a:pPr>
            <a:r>
              <a:rPr lang="en-US" sz="1100">
                <a:solidFill>
                  <a:srgbClr val="000000"/>
                </a:solidFill>
                <a:latin typeface="Arial"/>
                <a:ea typeface="Arial"/>
                <a:cs typeface="Arial"/>
                <a:sym typeface="Arial"/>
              </a:rPr>
              <a:t>In a production system, user credentials are stored in a </a:t>
            </a:r>
            <a:r>
              <a:rPr b="1" lang="en-US" sz="1100">
                <a:solidFill>
                  <a:srgbClr val="000000"/>
                </a:solidFill>
                <a:latin typeface="Arial"/>
                <a:ea typeface="Arial"/>
                <a:cs typeface="Arial"/>
                <a:sym typeface="Arial"/>
              </a:rPr>
              <a:t>Users table</a:t>
            </a:r>
            <a:r>
              <a:rPr lang="en-US" sz="1100">
                <a:solidFill>
                  <a:srgbClr val="000000"/>
                </a:solidFill>
                <a:latin typeface="Arial"/>
                <a:ea typeface="Arial"/>
                <a:cs typeface="Arial"/>
                <a:sym typeface="Arial"/>
              </a:rPr>
              <a:t> with </a:t>
            </a:r>
            <a:r>
              <a:rPr b="1" lang="en-US" sz="1100">
                <a:solidFill>
                  <a:srgbClr val="000000"/>
                </a:solidFill>
                <a:latin typeface="Arial"/>
                <a:ea typeface="Arial"/>
                <a:cs typeface="Arial"/>
                <a:sym typeface="Arial"/>
              </a:rPr>
              <a:t>hashed passwords</a:t>
            </a:r>
            <a:r>
              <a:rPr lang="en-US" sz="1100">
                <a:solidFill>
                  <a:srgbClr val="000000"/>
                </a:solidFill>
                <a:latin typeface="Arial"/>
                <a:ea typeface="Arial"/>
                <a:cs typeface="Arial"/>
                <a:sym typeface="Arial"/>
              </a:rPr>
              <a:t> rather than hardcoded values. Protected endpoints should always use the </a:t>
            </a:r>
            <a:r>
              <a:rPr b="1" lang="en-US" sz="1100">
                <a:solidFill>
                  <a:srgbClr val="000000"/>
                </a:solidFill>
                <a:latin typeface="Arial"/>
                <a:ea typeface="Arial"/>
                <a:cs typeface="Arial"/>
                <a:sym typeface="Arial"/>
              </a:rPr>
              <a:t>[Authorize]</a:t>
            </a:r>
            <a:r>
              <a:rPr lang="en-US" sz="1100">
                <a:solidFill>
                  <a:srgbClr val="000000"/>
                </a:solidFill>
                <a:latin typeface="Arial"/>
                <a:ea typeface="Arial"/>
                <a:cs typeface="Arial"/>
                <a:sym typeface="Arial"/>
              </a:rPr>
              <a:t> attribute to enforce security.</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This project demonstrates a full-stack backend API with:</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US" sz="1100">
                <a:solidFill>
                  <a:srgbClr val="000000"/>
                </a:solidFill>
                <a:latin typeface="Arial"/>
                <a:ea typeface="Arial"/>
                <a:cs typeface="Arial"/>
                <a:sym typeface="Arial"/>
              </a:rPr>
              <a:t>Core Features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US" sz="1100">
                <a:solidFill>
                  <a:srgbClr val="000000"/>
                </a:solidFill>
                <a:latin typeface="Arial"/>
                <a:ea typeface="Arial"/>
                <a:cs typeface="Arial"/>
                <a:sym typeface="Arial"/>
              </a:rPr>
              <a:t>ASP.NET Core REST API</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SQL Server integration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Stored procedures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Full CRUD endpoints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Layered architecture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Integration tests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GitHub version control</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Technical documentation</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en-US" sz="1100">
                <a:solidFill>
                  <a:srgbClr val="000000"/>
                </a:solidFill>
                <a:latin typeface="Arial"/>
                <a:ea typeface="Arial"/>
                <a:cs typeface="Arial"/>
                <a:sym typeface="Arial"/>
              </a:rPr>
              <a:t>Production-Ready Capabilities</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lang="en-US" sz="1100">
                <a:solidFill>
                  <a:srgbClr val="000000"/>
                </a:solidFill>
                <a:latin typeface="Arial"/>
                <a:ea typeface="Arial"/>
                <a:cs typeface="Arial"/>
                <a:sym typeface="Arial"/>
              </a:rPr>
              <a:t>Database-backed design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Input validation</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Robust error handling</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Authentication &amp; authorization (JWT)</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Application logging</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Sync/audit logging</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Duplicate record handling</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US" sz="1100">
                <a:solidFill>
                  <a:srgbClr val="000000"/>
                </a:solidFill>
                <a:latin typeface="Arial"/>
                <a:ea typeface="Arial"/>
                <a:cs typeface="Arial"/>
                <a:sym typeface="Arial"/>
              </a:rPr>
              <a:t>Soft delete support</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US" sz="1100">
                <a:solidFill>
                  <a:srgbClr val="000000"/>
                </a:solidFill>
                <a:latin typeface="Arial"/>
                <a:ea typeface="Arial"/>
                <a:cs typeface="Arial"/>
                <a:sym typeface="Arial"/>
              </a:rPr>
              <a:t>Overall, this showcases a production-style backend system with real-world architecture and security practices.</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US" sz="1100">
                <a:solidFill>
                  <a:srgbClr val="000000"/>
                </a:solidFill>
                <a:latin typeface="Arial"/>
                <a:ea typeface="Arial"/>
                <a:cs typeface="Arial"/>
                <a:sym typeface="Arial"/>
              </a:rPr>
              <a:t>https://localhost:7087/swagger/index.html</a:t>
            </a:r>
            <a:endParaRPr sz="1100">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f22c5e4d31_0_3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Load Testing</a:t>
            </a:r>
            <a:endParaRPr/>
          </a:p>
        </p:txBody>
      </p:sp>
      <p:sp>
        <p:nvSpPr>
          <p:cNvPr id="388" name="Google Shape;388;g3f22c5e4d31_0_35"/>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389" name="Google Shape;389;g3f22c5e4d31_0_35"/>
          <p:cNvPicPr preferRelativeResize="0"/>
          <p:nvPr/>
        </p:nvPicPr>
        <p:blipFill>
          <a:blip r:embed="rId3">
            <a:alphaModFix/>
          </a:blip>
          <a:stretch>
            <a:fillRect/>
          </a:stretch>
        </p:blipFill>
        <p:spPr>
          <a:xfrm>
            <a:off x="191425" y="1165697"/>
            <a:ext cx="9144002" cy="2263307"/>
          </a:xfrm>
          <a:prstGeom prst="rect">
            <a:avLst/>
          </a:prstGeom>
          <a:noFill/>
          <a:ln>
            <a:noFill/>
          </a:ln>
        </p:spPr>
      </p:pic>
      <p:pic>
        <p:nvPicPr>
          <p:cNvPr id="390" name="Google Shape;390;g3f22c5e4d31_0_35"/>
          <p:cNvPicPr preferRelativeResize="0"/>
          <p:nvPr/>
        </p:nvPicPr>
        <p:blipFill>
          <a:blip r:embed="rId4">
            <a:alphaModFix/>
          </a:blip>
          <a:stretch>
            <a:fillRect/>
          </a:stretch>
        </p:blipFill>
        <p:spPr>
          <a:xfrm>
            <a:off x="191425" y="3725137"/>
            <a:ext cx="9143998" cy="230257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3f22c5e4d31_0_4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396" name="Google Shape;396;g3f22c5e4d31_0_49"/>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397" name="Google Shape;397;g3f22c5e4d31_0_49"/>
          <p:cNvPicPr preferRelativeResize="0"/>
          <p:nvPr/>
        </p:nvPicPr>
        <p:blipFill>
          <a:blip r:embed="rId3">
            <a:alphaModFix/>
          </a:blip>
          <a:stretch>
            <a:fillRect/>
          </a:stretch>
        </p:blipFill>
        <p:spPr>
          <a:xfrm>
            <a:off x="73575" y="4055814"/>
            <a:ext cx="9143999" cy="2710221"/>
          </a:xfrm>
          <a:prstGeom prst="rect">
            <a:avLst/>
          </a:prstGeom>
          <a:noFill/>
          <a:ln>
            <a:noFill/>
          </a:ln>
        </p:spPr>
      </p:pic>
      <p:pic>
        <p:nvPicPr>
          <p:cNvPr id="398" name="Google Shape;398;g3f22c5e4d31_0_49"/>
          <p:cNvPicPr preferRelativeResize="0"/>
          <p:nvPr/>
        </p:nvPicPr>
        <p:blipFill>
          <a:blip r:embed="rId4">
            <a:alphaModFix/>
          </a:blip>
          <a:stretch>
            <a:fillRect/>
          </a:stretch>
        </p:blipFill>
        <p:spPr>
          <a:xfrm>
            <a:off x="0" y="1117048"/>
            <a:ext cx="9144000" cy="276655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f22c5e4d31_0_4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Jmeter Load test result</a:t>
            </a:r>
            <a:endParaRPr/>
          </a:p>
        </p:txBody>
      </p:sp>
      <p:sp>
        <p:nvSpPr>
          <p:cNvPr id="404" name="Google Shape;404;g3f22c5e4d31_0_42"/>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1200"/>
              </a:spcAft>
              <a:buNone/>
            </a:pPr>
            <a:r>
              <a:t/>
            </a:r>
            <a:endParaRPr/>
          </a:p>
        </p:txBody>
      </p:sp>
      <p:pic>
        <p:nvPicPr>
          <p:cNvPr id="405" name="Google Shape;405;g3f22c5e4d31_0_42"/>
          <p:cNvPicPr preferRelativeResize="0"/>
          <p:nvPr/>
        </p:nvPicPr>
        <p:blipFill>
          <a:blip r:embed="rId3">
            <a:alphaModFix/>
          </a:blip>
          <a:stretch>
            <a:fillRect/>
          </a:stretch>
        </p:blipFill>
        <p:spPr>
          <a:xfrm>
            <a:off x="157650" y="1323183"/>
            <a:ext cx="9144003" cy="43105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000"/>
                                        <p:tgtEl>
                                          <p:spTgt spid="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Summary</a:t>
            </a:r>
            <a:endParaRPr/>
          </a:p>
        </p:txBody>
      </p:sp>
      <p:sp>
        <p:nvSpPr>
          <p:cNvPr id="411" name="Google Shape;411;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End-to-end API + database integration with audit tracking</a:t>
            </a:r>
            <a:endParaRPr sz="3200">
              <a:solidFill>
                <a:schemeClr val="dk1"/>
              </a:solidFill>
              <a:latin typeface="Calibri"/>
              <a:ea typeface="Calibri"/>
              <a:cs typeface="Calibri"/>
              <a:sym typeface="Calibri"/>
            </a:endParaRPr>
          </a:p>
          <a:p>
            <a:pPr indent="0" lvl="0" marL="342900" rtl="0" algn="l">
              <a:spcBef>
                <a:spcPts val="1200"/>
              </a:spcBef>
              <a:spcAft>
                <a:spcPts val="0"/>
              </a:spcAft>
              <a:buNone/>
            </a:pPr>
            <a:r>
              <a:t/>
            </a:r>
            <a:endParaRPr/>
          </a:p>
          <a:p>
            <a:pPr indent="0" lvl="0" marL="0" rtl="0" algn="l">
              <a:lnSpc>
                <a:spcPct val="115000"/>
              </a:lnSpc>
              <a:spcBef>
                <a:spcPts val="1200"/>
              </a:spcBef>
              <a:spcAft>
                <a:spcPts val="0"/>
              </a:spcAft>
              <a:buClr>
                <a:schemeClr val="dk1"/>
              </a:buClr>
              <a:buSzPts val="1100"/>
              <a:buFont typeface="Arial"/>
              <a:buNone/>
            </a:pPr>
            <a:r>
              <a:rPr b="1" lang="en-US" sz="1400">
                <a:latin typeface="Arial"/>
                <a:ea typeface="Arial"/>
                <a:cs typeface="Arial"/>
                <a:sym typeface="Arial"/>
              </a:rPr>
              <a:t>This project demonstrates:</a:t>
            </a:r>
            <a:endParaRPr b="1" sz="1400">
              <a:latin typeface="Arial"/>
              <a:ea typeface="Arial"/>
              <a:cs typeface="Arial"/>
              <a:sym typeface="Arial"/>
            </a:endParaRPr>
          </a:p>
          <a:p>
            <a:pPr indent="-317500" lvl="0" marL="457200" rtl="0" algn="l">
              <a:lnSpc>
                <a:spcPct val="115000"/>
              </a:lnSpc>
              <a:spcBef>
                <a:spcPts val="1200"/>
              </a:spcBef>
              <a:spcAft>
                <a:spcPts val="0"/>
              </a:spcAft>
              <a:buSzPts val="1400"/>
              <a:buChar char="●"/>
            </a:pPr>
            <a:r>
              <a:rPr lang="en-US" sz="1400">
                <a:latin typeface="Arial"/>
                <a:ea typeface="Arial"/>
                <a:cs typeface="Arial"/>
                <a:sym typeface="Arial"/>
              </a:rPr>
              <a:t>API development skills</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SQL Server integration</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Systems analysis capability</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Enterprise-style design thinking</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Data integrity and audit tracking</a:t>
            </a:r>
            <a:endParaRPr sz="14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f24086cf93_0_1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200"/>
              </a:spcBef>
              <a:spcAft>
                <a:spcPts val="1200"/>
              </a:spcAft>
              <a:buNone/>
            </a:pPr>
            <a:r>
              <a:rPr b="0" lang="en-US" sz="3000">
                <a:solidFill>
                  <a:schemeClr val="accent1"/>
                </a:solidFill>
                <a:latin typeface="Lato"/>
                <a:ea typeface="Lato"/>
                <a:cs typeface="Lato"/>
                <a:sym typeface="Lato"/>
              </a:rPr>
              <a:t>Future Improvements</a:t>
            </a:r>
            <a:endParaRPr sz="3000"/>
          </a:p>
        </p:txBody>
      </p:sp>
      <p:sp>
        <p:nvSpPr>
          <p:cNvPr id="417" name="Google Shape;417;g3f24086cf93_0_1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342900" lvl="0" marL="457200" rtl="0" algn="l">
              <a:spcBef>
                <a:spcPts val="0"/>
              </a:spcBef>
              <a:spcAft>
                <a:spcPts val="0"/>
              </a:spcAft>
              <a:buSzPts val="1800"/>
              <a:buAutoNum type="arabicPeriod"/>
            </a:pPr>
            <a:r>
              <a:rPr lang="en-US"/>
              <a:t>Refresh Tokens</a:t>
            </a:r>
            <a:endParaRPr/>
          </a:p>
          <a:p>
            <a:pPr indent="-342900" lvl="0" marL="457200" rtl="0" algn="l">
              <a:spcBef>
                <a:spcPts val="0"/>
              </a:spcBef>
              <a:spcAft>
                <a:spcPts val="0"/>
              </a:spcAft>
              <a:buSzPts val="1800"/>
              <a:buAutoNum type="arabicPeriod"/>
            </a:pPr>
            <a:r>
              <a:rPr lang="en-US"/>
              <a:t>Repository Pattern</a:t>
            </a:r>
            <a:endParaRPr/>
          </a:p>
          <a:p>
            <a:pPr indent="-342900" lvl="0" marL="457200" rtl="0" algn="l">
              <a:spcBef>
                <a:spcPts val="0"/>
              </a:spcBef>
              <a:spcAft>
                <a:spcPts val="0"/>
              </a:spcAft>
              <a:buSzPts val="1800"/>
              <a:buAutoNum type="arabicPeriod"/>
            </a:pPr>
            <a:r>
              <a:rPr lang="en-US"/>
              <a:t>Service Layer</a:t>
            </a:r>
            <a:endParaRPr/>
          </a:p>
          <a:p>
            <a:pPr indent="-342900" lvl="0" marL="457200" rtl="0" algn="l">
              <a:spcBef>
                <a:spcPts val="0"/>
              </a:spcBef>
              <a:spcAft>
                <a:spcPts val="0"/>
              </a:spcAft>
              <a:buSzPts val="1800"/>
              <a:buAutoNum type="arabicPeriod"/>
            </a:pPr>
            <a:r>
              <a:rPr lang="en-US"/>
              <a:t>Audit Logging</a:t>
            </a:r>
            <a:endParaRPr/>
          </a:p>
          <a:p>
            <a:pPr indent="-342900" lvl="0" marL="457200" rtl="0" algn="l">
              <a:spcBef>
                <a:spcPts val="0"/>
              </a:spcBef>
              <a:spcAft>
                <a:spcPts val="0"/>
              </a:spcAft>
              <a:buSzPts val="1800"/>
              <a:buAutoNum type="arabicPeriod"/>
            </a:pPr>
            <a:r>
              <a:rPr lang="en-US"/>
              <a:t>Docker</a:t>
            </a:r>
            <a:endParaRPr/>
          </a:p>
          <a:p>
            <a:pPr indent="-342900" lvl="0" marL="457200" rtl="0" algn="l">
              <a:spcBef>
                <a:spcPts val="0"/>
              </a:spcBef>
              <a:spcAft>
                <a:spcPts val="0"/>
              </a:spcAft>
              <a:buSzPts val="1800"/>
              <a:buAutoNum type="arabicPeriod"/>
            </a:pPr>
            <a:r>
              <a:rPr lang="en-US"/>
              <a:t>CI/CD</a:t>
            </a:r>
            <a:endParaRPr/>
          </a:p>
          <a:p>
            <a:pPr indent="0" lvl="0" marL="0" rtl="0" algn="l">
              <a:spcBef>
                <a:spcPts val="360"/>
              </a:spcBef>
              <a:spcAft>
                <a:spcPts val="120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g3f24086cf93_0_1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Q &amp; A</a:t>
            </a:r>
            <a:endParaRPr/>
          </a:p>
        </p:txBody>
      </p:sp>
      <p:sp>
        <p:nvSpPr>
          <p:cNvPr id="423" name="Google Shape;423;g3f24086cf93_0_1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US"/>
              <a:t>This project started as a simple CRUD API, but I progressively enhanced it through multiple milestones by adding validation, duplicate detection, integration testing, JWT authentication, authorization, and security controls. My goal was to demonstrate not only coding ability but also software quality, maintainability, and real-world enterprise development practices."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US"/>
              <a:t>Demo github project:</a:t>
            </a:r>
            <a:endParaRPr/>
          </a:p>
          <a:p>
            <a:pPr indent="0" lvl="0" marL="0" rtl="0" algn="l">
              <a:spcBef>
                <a:spcPts val="1200"/>
              </a:spcBef>
              <a:spcAft>
                <a:spcPts val="1200"/>
              </a:spcAft>
              <a:buNone/>
            </a:pPr>
            <a:r>
              <a:rPr lang="en-US"/>
              <a:t>https://github.com/hchan9880-Demo/DemoERPApi</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